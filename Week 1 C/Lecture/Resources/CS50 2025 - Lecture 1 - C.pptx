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7qirrV8w5SQ"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hacks.mit.edu/Hacks/by_year/1991/fire_hydran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when%20green%20flag%20clicked%0Asay%20%5Bhello%2C%20world%5D"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when%20green%20flag%20clicked%0Asay%20%5Bhello%2C%20world%5D"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ditor.codecogs.com/"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say%20%5B%5D" TargetMode="External"/><Relationship Id="rId3" Type="http://schemas.openxmlformats.org/officeDocument/2006/relationships/hyperlink" Target="https://scratchblocks.github.io/#?style=scratch3&amp;script=say%20%5Bhello%2C%20world%5D"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when%20green%20flag%20clicked%0Aask%20%5BWhat's%20your%20name%3F%20%5D%20and%20wait%0Asay(join%20%5Bhello%2C%20%5D%20(answer))"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ask%20%5B%5D%20and%20wait" TargetMode="External"/><Relationship Id="rId3" Type="http://schemas.openxmlformats.org/officeDocument/2006/relationships/hyperlink" Target="https://scratchblocks.github.io/#?style=scratch3&amp;script=ask%20%5BWhat's%20your%20name%3F%5D%20and%20wait" TargetMode="External"/><Relationship Id="rId4" Type="http://schemas.openxmlformats.org/officeDocument/2006/relationships/hyperlink" Target="https://scratchblocks.github.io/#?style=scratch3&amp;script=(answer)"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ask%20%5BWhat's%20your%20name%3F%5D%20and%20wait%0A(answer)"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say%20(join%5Bhello%2C%20%5D%20(answer)%0A"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if%20%3C(x)%20%3C%20(y)%3E%20then%0Asay%20%5Bx%20is%20less%20than%20y%5D"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if%20%3C(x)%20%3C%20(y)%3E%20then%0Asay%20%5Bx%20is%20less%20than%20y%5D%0Aelse%0Asay%20%5Bx%20is%20not%20less%20than%20y%5D" TargetMode="Externa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if%20%3C(x)%20%3C%20(y)%3E%20then%0Asay%20%5Bx%20is%20less%20than%20y%5D%0Aelse%0Aif%20%3C(x)%20%3E%20(y)%3E%20then%0Asay%20%5Bx%20is%20greater%20than%20y%5D%0Aelse%0Aif%20%3C(x)%20%3D%20(y)%3E%20then%0Asay%20%5Bx%20is%20equal%20to%20y%5D" TargetMode="Externa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if%20%3C(x)%20%3C%20(y)%3E%20then%0Asay%20%5Bx%20is%20less%20than%20y%5D%0Aelse%0Aif%20%3C(x)%20%3E%20(y)%3E%20then%0Asay%20%5Bx%20is%20greater%20than%20y%5D%0Aelse%0Asay%20%5Bx%20is%20equal%20to%20y%5D" TargetMode="Externa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set%20%5Bcounter%20v%5D%20to%20%5B0%5D" TargetMode="Externa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change%20%5Bcounter%20v%5D%20by%20%5B1%5D" TargetMode="Externa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change%20%5Bcounter%20v%5D%20by%20%5B-1%5D" TargetMode="Externa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NkMFugzAMhl_F8i5Dgheg06QBO-7UntZwsEg6UCGhidFAiHdfSMY0n-zvt39bXrExUmGOt958Ny1ZhkslNPh4e7469qBOIMteoVhneIFli2LhGbCdVNDKq8Cnx2T4NEPnoFfOAbekYYlUYB3HytBe7c5mrJN_XjfqXTT7XY8pDsoO1El_3bozgdyqQQnMfSrJ3gUKvfk-mticF91gvl-U4jRKYlV19GVpwDxYH_RddmzsH1Sh_Ig_CK9IcST9acwxuP0A4V5a9A" TargetMode="Externa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9kMFugzAMhl_F8i6rRF-AVZXWwrGn7rSGg0XSgQoxS4xWhHj3hUSdtst8sv_f_mR7xpq1wRyvHX_VDTmBt0JZCPH6fPEShGoD2-0eDvMddjAtyTwEDcSNJnrHi8Knz5Hl5Q6th854D9KQhSmpCqs0doztxUrmodr8Yl2p8wlW_oVZln-AZQKuKWbYG9dTq8M582orlMb0RmEeUk3uplDZJfTRKHyebI35ekKG46BJTNHSh6Me87jLQy11K-x-RBPLU3pa_F2GA9l35sfg8g0ckGn4" TargetMode="Externa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tkcFugzAMhl_F8i6rRF-ArZXWBtrLTttpDQeLpAUNCE2CVoR494WgUtCWU_L792c77jBVQmKI50L9pBlpC5-MV-DO2_PJWCckK1ivt7DrbvAKbT8Gd04DqxvpY_sTx6dro-zLDXIDhTQGbEYVtKPKMRnT9t7OHGo7odgCFS1RFy3JSv0_LfIZsaNtNhMuXuAOS5y8NlSAVX9QB-8-DiOrOlnNhjxTYUYWm_X7UONZ2Yd6xABLqUvKhfvcbvBwtJksJcfQXQXpb4686p2PGqs-2irFcGg7wKYWbmaW00VTiaGH3tVI5FbpSZT--T6u0G8ywJqqL6Xuif0vYHGQ9A" TargetMode="Externa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tkc9ugzAMxl_F8i6rRF-ArZXWhraXnbbTGg4WSQsqEJo_WhHi3RdAMNCWU77P9s-J3WCihMQQL7n6TlLSFj4ZL8Gft-ezsd6IV7Beb2HXPOAV6nYI7rwHVjvZx_Znjk93p-zLAzIDuTQGbEol1IPLMZ6VXSg3Qx3zzO3EZAtmtGRetSQr9f9YtsQePHazmbiHBfe45Mq7oxys-sM89tmnbgiqilcz1G-j0-Du5yIaBQZYSF1QJvx4my7I0aaykBxDfxWkbxx52fo8clZ91GWCYffMAF0l_GdZRldNBYZ9w9GNRGaVnkzZy_dhif0uA6yo_FJqLGx_AMcUkcQ" TargetMode="Externa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tkctOwzAQRX9lNGyolP5AQJVonYoNK1hRZzGK3SYisVM_RKMo_45jKxUReOU5M_dqHiNWWkjM8dzq76om4-CDcQXhvTyerAug3MB2u4P9eINnGKaU3AcGzngZc4cTx4er1-7pBo2FVloLriYFQ6Icy1-yM7U26Vjw3N092cqzWHtejCQnzf-2bG17XEvl1VMLTv-RHWP16zyn7stNgocEU1AsAWbYSdNRI8KuxjnJ0dWykxzz8BVkvjhyNYU68k6_D6rCfJ4lQ9-L0Dlr6GKowzy2udBCNE6bO5QxfEsXiYfJsCf1qfUinH4AYdKEwg" TargetMode="Externa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repeat%20%5B3%5D%0Asay%5Bmeow%5D" TargetMode="Externa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 TargetMode="Externa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 TargetMode="Externa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cratchblocks.github.io/#?style=scratch3&amp;script=forever%0Asay%5Bmeow%5D" TargetMode="Externa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cookie/" TargetMode="Externa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ojipedia.org/cookie/" TargetMode="Externa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NkE1vgyAYx78KeU5rYg1SUUuyJlN73Gk7rTYLUXxJFAzFbJ3xu0-xbcoJfv8XHhghV4UABmWrfvKaa4M-00yieb29nC5mBucN2m4PKB6NHsS0arFFyakS5ruR5rzSxNJ0lOjwivDNms4QLVErHpdS1Z83T2LJ28uqxuBAJ3THm2IeaVw8GZhadCIDNm8LUfKhNRlkcpqtfDDq4ypzYEu_A0NfcCPShlead8Bs750ei8Yo_YDCHt_Xt9svcKDn8kup7t6m1VDVj0Cll5luipCF0IkapAFG9sRGgY3wC2znhS6mkbcPgx2hHvYduAILqOtFfhARn5IwosSfHPizd2E3jDwSYEoxJsQjlEz_0vl4eg" TargetMode="Externa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rmaid.live/edit#pako:eNpNj8FugzAMhl8l8mmVKEpSAlk0TVphx5220wqaIkgBrSQoDdo6xLsPwlrNJ_uz_9_2CKWpFAg4nsxX2Ujr0FuWazTH093h7GZQbNB2-4j2h1q5j1a7Ym3vPU1HjR4QnlaWzgw5O6hV8Q8e5em80myxNX2xgQA6ZTvZVvP6cZnNwTWqUzmIOa2k_cwh19M8JwdnXi-6BLGYBzD0lXQqa2VtZQfCm1_pc9U6Y29Q-fJlfdL_GkAv9bsx3dXNmqFuboLaLgf9dZSulE3NoB0IwriXghjhG8SOJCFmnNwn8Y4ygqMALiBiFhIexZxGjCac0WgK4MfvwmHCCY0xYxhTSiij0y9Ma3GV" TargetMode="Externa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arstechnica.com/information-technology/2015/05/boeing-787-dreamliners-contain-a-potentially-catastrophic-software-bug/" TargetMode="Externa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acman.fandom.com/wiki/Map_256_Glitch" TargetMode="Externa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me.cs50.io/20380119T031407+0000" TargetMode="Externa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500b3df6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500b3df6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solidFill>
                  <a:schemeClr val="dk1"/>
                </a:solidFill>
              </a:rPr>
              <a:t>Reload codespace</a:t>
            </a:r>
            <a:endParaRPr>
              <a:solidFill>
                <a:schemeClr val="dk1"/>
              </a:solidFill>
            </a:endParaRPr>
          </a:p>
          <a:p>
            <a:pPr indent="-298450" lvl="0" marL="457200" rtl="0" algn="l">
              <a:spcBef>
                <a:spcPts val="0"/>
              </a:spcBef>
              <a:spcAft>
                <a:spcPts val="0"/>
              </a:spcAft>
              <a:buSzPts val="1100"/>
              <a:buChar char="●"/>
            </a:pPr>
            <a:r>
              <a:rPr lang="en"/>
              <a:t>Uncheck</a:t>
            </a:r>
            <a:r>
              <a:rPr lang="en"/>
              <a:t> VS Code tabs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500b3df67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500b3df67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https://www.youtube.com/watch?v=7qirrV8w5SQ</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500b3df67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500b3df67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891e7a3d3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891e7a3d3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http://hacks.mit.edu/Hacks/by_year/1991/fire_hydrant/</a:t>
            </a: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500b3df673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500b3df673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https://scratchblocks.github.io/#?style=scratch3&amp;script=when%20green%20flag%20clicked%0Asay%20%5Bhello%2C%20world%5D</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7d3d4dab6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7d3d4dab6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500b3df673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500b3df673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500b3df673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500b3df673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70b0aa126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70b0aa126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500b3df673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500b3df673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970b0aa126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970b0aa126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starting today, no green flag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970b0aa126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970b0aa126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70b0aa126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70b0aa126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970b0aa126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970b0aa126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970b0aa126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970b0aa126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500b3df673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500b3df673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to write, compile code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500b3df673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500b3df673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500b3df673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500b3df673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500b3df673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500b3df673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500b3df673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500b3df673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500b3df673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500b3df673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fd693d6fd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fd693d6fd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fd693d6fd8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fd693d6fd8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d693d6fd8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d693d6fd8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fd693d6fd8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fd693d6fd8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d693d6fd8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fd693d6fd8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fd693d6fd8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fd693d6fd8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fd693d6fd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fd693d6fd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7d3d4dab6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7d3d4dab6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hello0.c</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fd693d6fd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fd693d6fd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fd693d6fd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fd693d6fd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https://scratchblocks.github.io/#?style=scratch3&amp;script=when%20green%20flag%20clicked%0Asay%20%5Bhello%2C%20world%5D</a:t>
            </a:r>
            <a:r>
              <a:rPr lang="en"/>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fd693d6fd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fd693d6fd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fd693d6f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fd693d6f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970b0aa126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970b0aa126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fd693d6fd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fd693d6fd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970b0aa126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970b0aa126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970b0aa126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970b0aa126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970b0aa126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970b0aa126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970b0aa126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970b0aa126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500b3df673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500b3df673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lot of ways to make mistakes; try omitting semicolon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fd693d6fd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fd693d6fd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https://editor.codecogs.com/</a:t>
            </a:r>
            <a:r>
              <a:rPr lang="en"/>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fd693d6fd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fd693d6fd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fd693d6fd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fd693d6fd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fd693d6fd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fd693d6fd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https://scratchblocks.github.io/#?style=scratch3&amp;script=say%20%5B%5D</a:t>
            </a:r>
            <a:r>
              <a:rPr lang="en"/>
              <a:t> </a:t>
            </a:r>
            <a:endParaRPr/>
          </a:p>
          <a:p>
            <a:pPr indent="0" lvl="0" marL="0" rtl="0" algn="l">
              <a:spcBef>
                <a:spcPts val="0"/>
              </a:spcBef>
              <a:spcAft>
                <a:spcPts val="0"/>
              </a:spcAft>
              <a:buNone/>
            </a:pPr>
            <a:r>
              <a:rPr lang="en" u="sng">
                <a:solidFill>
                  <a:schemeClr val="hlink"/>
                </a:solidFill>
                <a:hlinkClick r:id="rId3"/>
              </a:rPr>
              <a:t>https://scratchblocks.github.io/#?style=scratch3&amp;script=say%20%5Bhello%2C%20world%5D</a:t>
            </a:r>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500b3df673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500b3df673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try omitting </a:t>
            </a:r>
            <a:r>
              <a:rPr lang="en">
                <a:solidFill>
                  <a:schemeClr val="dk1"/>
                </a:solidFill>
              </a:rPr>
              <a:t>\n</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fd693d6fd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fd693d6fd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503b578c0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503b578c0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try removing stdio.h</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503b578c0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503b578c0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503b578c0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503b578c0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503b578c0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503b578c0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503b578c0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503b578c0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tab in advance</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503b578c0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503b578c0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open tab in advance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503b578c04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503b578c04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503b578c0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503b578c0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open tab in advance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503b578c0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503b578c0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7d3d4dab6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7d3d4dab6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500b3df673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500b3df673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https://scratchblocks.github.io/#?style=scratch3&amp;script=when%20green%20flag%20clicked%0Aask%20%5BWhat's%20your%20name%3F%20%5D%20and%20wait%0Asay(join%20%5Bhello%2C%20%5D%20(answer))</a:t>
            </a:r>
            <a:r>
              <a:rPr lang="en"/>
              <a:t>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fd63e5ff6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fd63e5ff6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starting today, no green flag</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500b3df67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500b3df67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500b3df673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500b3df673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https://scratchblocks.github.io/#?style=scratch3&amp;script=ask%20%5B%5D%20and%20wait</a:t>
            </a:r>
            <a:endParaRPr/>
          </a:p>
          <a:p>
            <a:pPr indent="0" lvl="0" marL="0" rtl="0" algn="l">
              <a:spcBef>
                <a:spcPts val="0"/>
              </a:spcBef>
              <a:spcAft>
                <a:spcPts val="0"/>
              </a:spcAft>
              <a:buNone/>
            </a:pPr>
            <a:r>
              <a:rPr lang="en" u="sng">
                <a:solidFill>
                  <a:schemeClr val="hlink"/>
                </a:solidFill>
                <a:hlinkClick r:id="rId3"/>
              </a:rPr>
              <a:t>https://scratchblocks.github.io/#?style=scratch3&amp;script=ask%20%5BWhat's%20your%20name%3F%5D%20and%20wait</a:t>
            </a:r>
            <a:r>
              <a:rPr lang="en"/>
              <a:t> </a:t>
            </a:r>
            <a:endParaRPr/>
          </a:p>
          <a:p>
            <a:pPr indent="0" lvl="0" marL="0" rtl="0" algn="l">
              <a:spcBef>
                <a:spcPts val="0"/>
              </a:spcBef>
              <a:spcAft>
                <a:spcPts val="0"/>
              </a:spcAft>
              <a:buNone/>
            </a:pPr>
            <a:r>
              <a:rPr lang="en" u="sng">
                <a:solidFill>
                  <a:schemeClr val="hlink"/>
                </a:solidFill>
                <a:hlinkClick r:id="rId4"/>
              </a:rPr>
              <a:t>https://scratchblocks.github.io/#?style=scratch3&amp;script=(answer)</a:t>
            </a:r>
            <a:r>
              <a:rPr lang="en"/>
              <a:t>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970b0aa126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970b0aa126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https://scratchblocks.github.io/#?style=scratch3&amp;script=ask%20%5BWhat's%20your%20name%3F%5D%20and%20wait%0A(answer)</a:t>
            </a:r>
            <a:r>
              <a:rPr lang="en"/>
              <a:t>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970b0aa126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970b0aa126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970b0aa126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970b0aa126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500b3df673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500b3df673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970b0aa126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970b0aa126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970b0aa126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970b0aa126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970b0aa126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970b0aa126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hello1.c</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970b0aa126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970b0aa126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https://scratchblocks.github.io/#?style=scratch3&amp;script=say%20(join%5Bhello%2C%20%5D%20(answer)%0A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970b0aa126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970b0aa126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970b0aa126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970b0aa126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500b3df673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500b3df673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500b3df673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500b3df673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970b0aa126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970b0aa126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hello2.c</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88892e747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88892e747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88892e747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88892e747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ls</a:t>
            </a:r>
            <a:endParaRPr>
              <a:solidFill>
                <a:schemeClr val="dk1"/>
              </a:solidFill>
            </a:endParaRPr>
          </a:p>
          <a:p>
            <a:pPr indent="0" lvl="0" marL="0" rtl="0" algn="l">
              <a:spcBef>
                <a:spcPts val="0"/>
              </a:spcBef>
              <a:spcAft>
                <a:spcPts val="0"/>
              </a:spcAft>
              <a:buNone/>
            </a:pPr>
            <a:r>
              <a:rPr lang="en">
                <a:solidFill>
                  <a:schemeClr val="dk1"/>
                </a:solidFill>
              </a:rPr>
              <a:t>rm hello</a:t>
            </a:r>
            <a:endParaRPr>
              <a:solidFill>
                <a:schemeClr val="dk1"/>
              </a:solidFill>
            </a:endParaRPr>
          </a:p>
          <a:p>
            <a:pPr indent="0" lvl="0" marL="0" rtl="0" algn="l">
              <a:spcBef>
                <a:spcPts val="0"/>
              </a:spcBef>
              <a:spcAft>
                <a:spcPts val="0"/>
              </a:spcAft>
              <a:buNone/>
            </a:pPr>
            <a:r>
              <a:rPr lang="en">
                <a:solidFill>
                  <a:schemeClr val="dk1"/>
                </a:solidFill>
              </a:rPr>
              <a:t>mkdir hello/</a:t>
            </a:r>
            <a:endParaRPr>
              <a:solidFill>
                <a:schemeClr val="dk1"/>
              </a:solidFill>
            </a:endParaRPr>
          </a:p>
          <a:p>
            <a:pPr indent="0" lvl="0" marL="0" rtl="0" algn="l">
              <a:spcBef>
                <a:spcPts val="0"/>
              </a:spcBef>
              <a:spcAft>
                <a:spcPts val="0"/>
              </a:spcAft>
              <a:buNone/>
            </a:pPr>
            <a:r>
              <a:rPr lang="en">
                <a:solidFill>
                  <a:schemeClr val="dk1"/>
                </a:solidFill>
              </a:rPr>
              <a:t>mv hello.c hello</a:t>
            </a:r>
            <a:endParaRPr>
              <a:solidFill>
                <a:schemeClr val="dk1"/>
              </a:solidFill>
            </a:endParaRPr>
          </a:p>
          <a:p>
            <a:pPr indent="0" lvl="0" marL="0" rtl="0" algn="l">
              <a:spcBef>
                <a:spcPts val="0"/>
              </a:spcBef>
              <a:spcAft>
                <a:spcPts val="0"/>
              </a:spcAft>
              <a:buNone/>
            </a:pPr>
            <a:r>
              <a:rPr lang="en">
                <a:solidFill>
                  <a:schemeClr val="dk1"/>
                </a:solidFill>
              </a:rPr>
              <a:t>cd hello</a:t>
            </a:r>
            <a:endParaRPr>
              <a:solidFill>
                <a:schemeClr val="dk1"/>
              </a:solidFill>
            </a:endParaRPr>
          </a:p>
          <a:p>
            <a:pPr indent="0" lvl="0" marL="0" rtl="0" algn="l">
              <a:spcBef>
                <a:spcPts val="0"/>
              </a:spcBef>
              <a:spcAft>
                <a:spcPts val="0"/>
              </a:spcAft>
              <a:buNone/>
            </a:pPr>
            <a:r>
              <a:rPr lang="en">
                <a:solidFill>
                  <a:schemeClr val="dk1"/>
                </a:solidFill>
              </a:rPr>
              <a:t>mv hello.c old.c</a:t>
            </a:r>
            <a:endParaRPr>
              <a:solidFill>
                <a:schemeClr val="dk1"/>
              </a:solidFill>
            </a:endParaRPr>
          </a:p>
          <a:p>
            <a:pPr indent="0" lvl="0" marL="0" rtl="0" algn="l">
              <a:spcBef>
                <a:spcPts val="0"/>
              </a:spcBef>
              <a:spcAft>
                <a:spcPts val="0"/>
              </a:spcAft>
              <a:buNone/>
            </a:pPr>
            <a:r>
              <a:rPr lang="en">
                <a:solidFill>
                  <a:schemeClr val="dk1"/>
                </a:solidFill>
              </a:rPr>
              <a:t>mv old.c hello.c</a:t>
            </a:r>
            <a:endParaRPr>
              <a:solidFill>
                <a:schemeClr val="dk1"/>
              </a:solidFill>
            </a:endParaRPr>
          </a:p>
          <a:p>
            <a:pPr indent="0" lvl="0" marL="0" rtl="0" algn="l">
              <a:spcBef>
                <a:spcPts val="0"/>
              </a:spcBef>
              <a:spcAft>
                <a:spcPts val="0"/>
              </a:spcAft>
              <a:buNone/>
            </a:pPr>
            <a:r>
              <a:rPr lang="en">
                <a:solidFill>
                  <a:schemeClr val="dk1"/>
                </a:solidFill>
              </a:rPr>
              <a:t>cp hello.c backup.c</a:t>
            </a:r>
            <a:endParaRPr>
              <a:solidFill>
                <a:schemeClr val="dk1"/>
              </a:solidFill>
            </a:endParaRPr>
          </a:p>
          <a:p>
            <a:pPr indent="0" lvl="0" marL="0" rtl="0" algn="l">
              <a:spcBef>
                <a:spcPts val="0"/>
              </a:spcBef>
              <a:spcAft>
                <a:spcPts val="0"/>
              </a:spcAft>
              <a:buNone/>
            </a:pPr>
            <a:r>
              <a:rPr lang="en">
                <a:solidFill>
                  <a:schemeClr val="dk1"/>
                </a:solidFill>
              </a:rPr>
              <a:t>rm backup.c</a:t>
            </a:r>
            <a:endParaRPr>
              <a:solidFill>
                <a:schemeClr val="dk1"/>
              </a:solidFill>
            </a:endParaRPr>
          </a:p>
          <a:p>
            <a:pPr indent="0" lvl="0" marL="0" rtl="0" algn="l">
              <a:spcBef>
                <a:spcPts val="0"/>
              </a:spcBef>
              <a:spcAft>
                <a:spcPts val="0"/>
              </a:spcAft>
              <a:buNone/>
            </a:pPr>
            <a:r>
              <a:rPr lang="en">
                <a:solidFill>
                  <a:schemeClr val="dk1"/>
                </a:solidFill>
              </a:rPr>
              <a:t>mv hello.c ..</a:t>
            </a:r>
            <a:endParaRPr>
              <a:solidFill>
                <a:schemeClr val="dk1"/>
              </a:solidFill>
            </a:endParaRPr>
          </a:p>
          <a:p>
            <a:pPr indent="0" lvl="0" marL="0" rtl="0" algn="l">
              <a:spcBef>
                <a:spcPts val="0"/>
              </a:spcBef>
              <a:spcAft>
                <a:spcPts val="0"/>
              </a:spcAft>
              <a:buNone/>
            </a:pPr>
            <a:r>
              <a:rPr lang="en">
                <a:solidFill>
                  <a:schemeClr val="dk1"/>
                </a:solidFill>
              </a:rPr>
              <a:t>cd</a:t>
            </a:r>
            <a:endParaRPr>
              <a:solidFill>
                <a:schemeClr val="dk1"/>
              </a:solidFill>
            </a:endParaRPr>
          </a:p>
          <a:p>
            <a:pPr indent="0" lvl="0" marL="0" rtl="0" algn="l">
              <a:spcBef>
                <a:spcPts val="0"/>
              </a:spcBef>
              <a:spcAft>
                <a:spcPts val="0"/>
              </a:spcAft>
              <a:buNone/>
            </a:pPr>
            <a:r>
              <a:rPr lang="en">
                <a:solidFill>
                  <a:schemeClr val="dk1"/>
                </a:solidFill>
              </a:rPr>
              <a:t>rmdir hello</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1500b3df673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1500b3df673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500b3df673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500b3df673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https://scratchblocks.github.io/#?style=scratch3&amp;script=if%20%3C(x)%20%3C%20(y)%3E%20then%0Asay%20%5Bx%20is%20less%20than%20y%5D</a:t>
            </a:r>
            <a:r>
              <a:rPr lang="en"/>
              <a:t>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500b3df673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500b3df673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500b3df673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500b3df673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500b3df673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500b3df673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https://scratchblocks.github.io/#?style=scratch3&amp;script=if%20%3C(x)%20%3C%20(y)%3E%20then%0Asay%20%5Bx%20is%20less%20than%20y%5D%0Aelse%0Asay%20%5Bx%20is%20not%20less%20than%20y%5D</a:t>
            </a:r>
            <a:r>
              <a:rPr lang="en"/>
              <a:t>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500b3df673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500b3df673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1500b3df673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1500b3df673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500b3df673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500b3df673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if%20%3C(x)%20%3C%20(y)%3E%20then%0Asay%20%5Bx%20is%20less%20than%20y%5D%0Aelse%0Aif%20%3C(x)%20%3E%20(y)%3E%20then%0Asay%20%5Bx%20is%20greater%20than%20y%5D%0Aelse%0Aif%20%3C(x)%20%3D%20(y)%3E%20then%0Asay%20%5Bx%20is%20equal%20to%20y%5D</a:t>
            </a:r>
            <a:r>
              <a:rPr lang="en"/>
              <a:t>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500b3df673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1500b3df673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1500b3df673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1500b3df673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500b3df673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500b3df673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https://scratchblocks.github.io/#?style=scratch3&amp;script=if%20%3C(x)%20%3C%20(y)%3E%20then%0Asay%20%5Bx%20is%20less%20than%20y%5D%0Aelse%0Aif%20%3C(x)%20%3E%20(y)%3E%20then%0Asay%20%5Bx%20is%20greater%20than%20y%5D%0Aelse%0Asay%20%5Bx%20is%20equal%20to%20y%5D</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fd693d6fd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2fd693d6fd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fd693d6fd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2fd693d6fd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88892e747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88892e747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88892e747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88892e747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88892e747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88892e747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88892e747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88892e747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88892e747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88892e747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88892e747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88892e747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88892e747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88892e747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88892e7476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88892e7476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88892e747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88892e747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503b578c04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503b578c04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1503b578c0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1503b578c0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https://scratchblocks.github.io/#?style=scratch3&amp;script=set%20%5Bcounter%20v%5D%20to%20%5B0%5D</a:t>
            </a:r>
            <a:r>
              <a:rPr lang="en"/>
              <a:t>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1503b578c0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1503b578c0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1503b578c04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1503b578c04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1503b578c0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1503b578c0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503b578c04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1503b578c04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https://scratchblocks.github.io/#?style=scratch3&amp;script=change%20%5Bcounter%20v%5D%20by%20%5B1%5D</a:t>
            </a:r>
            <a:r>
              <a:rPr lang="en"/>
              <a:t>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1503b578c0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1503b578c0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1503b578c0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1503b578c0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1503b578c0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1503b578c0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1503b578c04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1503b578c04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https://scratchblocks.github.io/#?style=scratch3&amp;script=change%20%5Bcounter%20v%5D%20by%20%5B-1%5D</a:t>
            </a:r>
            <a:r>
              <a:rPr lang="en"/>
              <a:t>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27d3d4dab6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27d3d4dab6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compare0.c</a:t>
            </a:r>
            <a:endParaRPr/>
          </a:p>
          <a:p>
            <a:pPr indent="0" lvl="0" marL="0" rtl="0" algn="l">
              <a:spcBef>
                <a:spcPts val="0"/>
              </a:spcBef>
              <a:spcAft>
                <a:spcPts val="0"/>
              </a:spcAft>
              <a:buNone/>
            </a:pPr>
            <a:r>
              <a:rPr lang="en" u="sng">
                <a:solidFill>
                  <a:schemeClr val="hlink"/>
                </a:solidFill>
                <a:hlinkClick r:id="rId2"/>
              </a:rPr>
              <a:t>https://mermaid.live/edit#pako:eNpNkMFugzAMhl_F8i5Dgheg06QBO-7UntZwsEg6UCGhidFAiHdfSMY0n-zvt39bXrExUmGOt958Ny1ZhkslNPh4e7469qBOIMteoVhneIFli2LhGbCdVNDKq8Cnx2T4NEPnoFfOAbekYYlUYB3HytBe7c5mrJN_XjfqXTT7XY8pDsoO1El_3bozgdyqQQnMfSrJ3gUKvfk-mticF91gvl-U4jRKYlV19GVpwDxYH_RddmzsH1Sh_Ig_CK9IcST9acwxuP0A4V5a9A</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7d3d4dab6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27d3d4dab6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compare1.c </a:t>
            </a:r>
            <a:endParaRPr/>
          </a:p>
          <a:p>
            <a:pPr indent="0" lvl="0" marL="0" rtl="0" algn="l">
              <a:spcBef>
                <a:spcPts val="0"/>
              </a:spcBef>
              <a:spcAft>
                <a:spcPts val="0"/>
              </a:spcAft>
              <a:buNone/>
            </a:pPr>
            <a:r>
              <a:rPr lang="en" u="sng">
                <a:solidFill>
                  <a:schemeClr val="hlink"/>
                </a:solidFill>
                <a:hlinkClick r:id="rId2"/>
              </a:rPr>
              <a:t>https://mermaid.live/edit#pako:eNp9kMFugzAMhl_F8i6rRF-AVZXWwrGn7rSGg0XSgQoxS4xWhHj3hUSdtst8sv_f_mR7xpq1wRyvHX_VDTmBt0JZCPH6fPEShGoD2-0eDvMddjAtyTwEDcSNJnrHi8Knz5Hl5Q6th854D9KQhSmpCqs0doztxUrmodr8Yl2p8wlW_oVZln-AZQKuKWbYG9dTq8M582orlMb0RmEeUk3uplDZJfTRKHyebI35ekKG46BJTNHSh6Me87jLQy11K-x-RBPLU3pa_F2GA9l35sfg8g0ckGn4</a:t>
            </a:r>
            <a:endParaRPr/>
          </a:p>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27d3d4dab6f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27d3d4dab6f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compare2.c - ZOOM IN</a:t>
            </a:r>
            <a:endParaRPr/>
          </a:p>
          <a:p>
            <a:pPr indent="0" lvl="0" marL="0" rtl="0" algn="l">
              <a:spcBef>
                <a:spcPts val="0"/>
              </a:spcBef>
              <a:spcAft>
                <a:spcPts val="0"/>
              </a:spcAft>
              <a:buNone/>
            </a:pPr>
            <a:r>
              <a:rPr lang="en" u="sng">
                <a:solidFill>
                  <a:schemeClr val="hlink"/>
                </a:solidFill>
                <a:hlinkClick r:id="rId2"/>
              </a:rPr>
              <a:t>https://mermaid.live/edit#pako:eNptkcFugzAMhl_F8i6rRF-ArZXWBtrLTttpDQeLpAUNCE2CVoR494WgUtCWU_L792c77jBVQmKI50L9pBlpC5-MV-DO2_PJWCckK1ivt7DrbvAKbT8Gd04DqxvpY_sTx6dro-zLDXIDhTQGbEYVtKPKMRnT9t7OHGo7odgCFS1RFy3JSv0_LfIZsaNtNhMuXuAOS5y8NlSAVX9QB-8-DiOrOlnNhjxTYUYWm_X7UONZ2Yd6xABLqUvKhfvcbvBwtJksJcfQXQXpb4686p2PGqs-2irFcGg7wKYWbmaW00VTiaGH3tVI5FbpSZT--T6u0G8ywJqqL6Xuif0vYHGQ9A</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7d3d4dab6f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7d3d4dab6f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compare3.c</a:t>
            </a:r>
            <a:endParaRPr/>
          </a:p>
          <a:p>
            <a:pPr indent="0" lvl="0" marL="0" rtl="0" algn="l">
              <a:spcBef>
                <a:spcPts val="0"/>
              </a:spcBef>
              <a:spcAft>
                <a:spcPts val="0"/>
              </a:spcAft>
              <a:buNone/>
            </a:pPr>
            <a:r>
              <a:rPr lang="en" u="sng">
                <a:solidFill>
                  <a:schemeClr val="hlink"/>
                </a:solidFill>
                <a:hlinkClick r:id="rId2"/>
              </a:rPr>
              <a:t>https://mermaid.live/edit#pako:eNptkc9ugzAMxl_F8i6rRF-ArZXWhraXnbbTGg4WSQsqEJo_WhHi3RdAMNCWU77P9s-J3WCihMQQL7n6TlLSFj4ZL8Gft-ezsd6IV7Beb2HXPOAV6nYI7rwHVjvZx_Znjk93p-zLAzIDuTQGbEol1IPLMZ6VXSg3Qx3zzO3EZAtmtGRetSQr9f9YtsQePHazmbiHBfe45Mq7oxys-sM89tmnbgiqilcz1G-j0-Du5yIaBQZYSF1QJvx4my7I0aaykBxDfxWkbxx52fo8clZ91GWCYffMAF0l_GdZRldNBYZ9w9GNRGaVnkzZy_dhif0uA6yo_FJqLGx_AMcUkcQ</a:t>
            </a:r>
            <a:endParaRPr/>
          </a:p>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7d3d4dab6f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27d3d4dab6f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compare4.c</a:t>
            </a:r>
            <a:endParaRPr/>
          </a:p>
          <a:p>
            <a:pPr indent="0" lvl="0" marL="0" rtl="0" algn="l">
              <a:spcBef>
                <a:spcPts val="0"/>
              </a:spcBef>
              <a:spcAft>
                <a:spcPts val="0"/>
              </a:spcAft>
              <a:buNone/>
            </a:pPr>
            <a:r>
              <a:rPr lang="en" u="sng">
                <a:solidFill>
                  <a:schemeClr val="hlink"/>
                </a:solidFill>
                <a:hlinkClick r:id="rId2"/>
              </a:rPr>
              <a:t>https://mermaid.live/edit#pako:eNptkctOwzAQRX9lNGyolP5AQJVonYoNK1hRZzGK3SYisVM_RKMo_45jKxUReOU5M_dqHiNWWkjM8dzq76om4-CDcQXhvTyerAug3MB2u4P9eINnGKaU3AcGzngZc4cTx4er1-7pBo2FVloLriYFQ6Icy1-yM7U26Vjw3N092cqzWHtejCQnzf-2bG17XEvl1VMLTv-RHWP16zyn7stNgocEU1AsAWbYSdNRI8KuxjnJ0dWykxzz8BVkvjhyNYU68k6_D6rCfJ4lQ9-L0Dlr6GKowzy2udBCNE6bO5QxfEsXiYfJsCf1qfUinH4AYdKEwg</a:t>
            </a:r>
            <a:r>
              <a:rPr lang="en"/>
              <a:t>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7d3d4dab6f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7d3d4dab6f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7d3d4dab6f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7d3d4dab6f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agree{0,1,2}.c</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1500b3df673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1500b3df673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cat0.c</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1500b3df673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1500b3df673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https://scratchblocks.github.io/#?style=scratch3&amp;script=repeat%20%5B3%5D%0Asay%5Bmeow%5D</a:t>
            </a:r>
            <a:r>
              <a:rPr lang="en"/>
              <a:t>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fd693d6fd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2fd693d6fd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cat1.c, but use counter first</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2fd693d6fd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2fd693d6fd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cat1.c, but use counter first</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1500b3df673_0_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1500b3df673_0_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cat{2,3}.c</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7d3d4dab6f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27d3d4dab6f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a:t>
            </a:r>
            <a:r>
              <a:rPr lang="en"/>
              <a:t>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1500b3df673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1500b3df673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cat4.c</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7d3d4dab6f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7d3d4dab6f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1500b3df673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1500b3df673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https://scratchblocks.github.io/#?style=scratch3&amp;script=forever%0Asay%5Bmeow%5D</a:t>
            </a:r>
            <a:r>
              <a:rPr lang="en"/>
              <a:t>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1500b3df673_0_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1500b3df673_0_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7d3d4dab6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7d3d4dab6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27d3d4dab6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27d3d4dab6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cat5.c</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88892e747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88892e747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https://emojipedia.org/cookie/</a:t>
            </a:r>
            <a:r>
              <a:rPr lang="en"/>
              <a:t>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88892e747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88892e7476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https://emojipedia.org/cookie/</a:t>
            </a:r>
            <a:r>
              <a:rPr lang="en"/>
              <a:t>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2877f02ac7e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2877f02ac7e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cat{6,7,8,9,10}.c</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8891e7a3d3_2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8891e7a3d3_2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cat{6,7,8,9,10}.c</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88892e747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88892e747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unknown</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88892e747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88892e74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rmaid.live/edit#pako:eNpNkE1vgyAYx78KeU5rYg1SUUuyJlN73Gk7rTYLUXxJFAzFbJ3xu0-xbcoJfv8XHhghV4UABmWrfvKaa4M-00yieb29nC5mBucN2m4PKB6NHsS0arFFyakS5ruR5rzSxNJ0lOjwivDNms4QLVErHpdS1Z83T2LJ28uqxuBAJ3THm2IeaVw8GZhadCIDNm8LUfKhNRlkcpqtfDDq4ypzYEu_A0NfcCPShlead8Bs750ei8Yo_YDCHt_Xt9svcKDn8kup7t6m1VDVj0Cll5luipCF0IkapAFG9sRGgY3wC2znhS6mkbcPgx2hHvYduAILqOtFfhARn5IwosSfHPizd2E3jDwSYEoxJsQjlEz_0vl4eg</a:t>
            </a:r>
            <a:r>
              <a:rPr lang="en"/>
              <a:t>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88892e747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88892e747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rmaid.live/edit#pako:eNpNj8FugzAMhl8l8mmVKEpSAlk0TVphx5220wqaIkgBrSQoDdo6xLsPwlrNJ_uz_9_2CKWpFAg4nsxX2Ujr0FuWazTH093h7GZQbNB2-4j2h1q5j1a7Ym3vPU1HjR4QnlaWzgw5O6hV8Q8e5em80myxNX2xgQA6ZTvZVvP6cZnNwTWqUzmIOa2k_cwh19M8JwdnXi-6BLGYBzD0lXQqa2VtZQfCm1_pc9U6Y29Q-fJlfdL_GkAv9bsx3dXNmqFuboLaLgf9dZSulE3NoB0IwriXghjhG8SOJCFmnNwn8Y4ygqMALiBiFhIexZxGjCac0WgK4MfvwmHCCY0xYxhTSiij0y9Ma3GV</a:t>
            </a:r>
            <a:r>
              <a:rPr lang="en"/>
              <a:t>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7d3d4dab6f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7d3d4dab6f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27d3d4dab6f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27d3d4dab6f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27d3d4dab6f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27d3d4dab6f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7d3d4dab6f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27d3d4dab6f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cat11.c</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7d3d4dab6f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27d3d4dab6f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7d3d4dab6f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7d3d4dab6f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27d3d4dab6f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27d3d4dab6f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7d3d4dab6f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7d3d4dab6f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cat12.c</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81dab74618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81dab74618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fd693d6fd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fd693d6fd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cat{13,14,15}.c</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fd693d6fd8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fd693d6fd8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fd693d6fd8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2fd693d6fd8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27d3d4dab6f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27d3d4dab6f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fd693d6fd8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fd693d6fd8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2fd693d6fd8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2fd693d6fd8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fd693d6fd8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2fd693d6fd8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mario{0,1}.c</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fd693d6fd8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fd693d6fd8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2fd693d6fd8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2fd693d6fd8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mario2.c</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fd693d6fd8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fd693d6fd8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fd693d6fd8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fd693d6fd8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mario3.c</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fd693d6fd8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fd693d6fd8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mario{4,5}.c</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7d3d4dab6f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7d3d4dab6f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27d3d4dab6f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6" name="Google Shape;1086;g27d3d4dab6f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calculator{0,1,2}.c</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fd693d6fd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fd693d6fd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fd693d6fd8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fd693d6fd8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2fd693d6fd8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2fd693d6fd8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fd693d6fd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fd693d6fd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fd693d6fd8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fd693d6fd8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fd693d6fd8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fd693d6fd8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2fd693d6fd8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2fd693d6fd8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fd693d6fd8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fd693d6fd8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fd693d6fd8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fd693d6fd8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2fd693d6fd8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2fd693d6fd8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2fd693d6fd8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2fd693d6fd8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88892e747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388892e747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calculator{3,4}.c</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2fd693d6fd8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2fd693d6fd8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Boeing 787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Model 787 airplane that has been powered continuously for 248 days can lose all alternating current (AC) electrical power due to the generator control units (GCUs) simultaneously going into failsafe mode," the memo stated. "This condition is caused by a software counter internal to the GCUs that will overflow after 248 days of continuous power... Boeing is in the process of developing a GCU software upgrade that will remedy the unsafe condition." - </a:t>
            </a:r>
            <a:r>
              <a:rPr lang="en" u="sng">
                <a:solidFill>
                  <a:schemeClr val="hlink"/>
                </a:solidFill>
                <a:hlinkClick r:id="rId2"/>
              </a:rPr>
              <a:t>http://arstechnica.com/information-technology/2015/05/boeing-787-dreamliners-contain-a-potentially-catastrophic-software-bug/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simple guess suggests the the problem is a signed 32-bit overflow as 2^31 is the number of seconds in 248 days multiplied by 100, i.e. a counter in hundredths of of a second. </a:t>
            </a:r>
            <a:endParaRPr/>
          </a:p>
          <a:p>
            <a:pPr indent="0" lvl="0" marL="0" rtl="0" algn="l">
              <a:spcBef>
                <a:spcPts val="0"/>
              </a:spcBef>
              <a:spcAft>
                <a:spcPts val="0"/>
              </a:spcAft>
              <a:buNone/>
            </a:pPr>
            <a:r>
              <a:rPr lang="en"/>
              <a:t>https://www.i-programmer.info/news/149-security/8548-reboot-your-dreamliner-every-248-days-to-avoid-integer-overflow.html</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fd693d6fd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fd693d6fd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https://pacman.fandom.com/wiki/Map_256_Glitch</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level counter in the original Pac-Man is stored as an 8-bit integer, meaning the highest value it can hold is 255. The level counter starts with 0 internally, but for calculating the fruit counter it adds 1; however, because of overflow, adding 1 to 255 would result in 0, and the game tries to count fruits from 1, causing the game to attempt to draw 256 fruit to the screen until it overflows to 0. The result is the garbled mess on the right side of the maze, because the screen memory starts with the bottom, followed by the columns from the right side."</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2fd693d6fd8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2fd693d6fd8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calculator{5,6}.c</a:t>
            </a:r>
            <a:endParaRPr/>
          </a:p>
          <a:p>
            <a:pPr indent="0" lvl="0" marL="0" rtl="0" algn="l">
              <a:spcBef>
                <a:spcPts val="0"/>
              </a:spcBef>
              <a:spcAft>
                <a:spcPts val="0"/>
              </a:spcAft>
              <a:buNone/>
            </a:pPr>
            <a:r>
              <a:rPr lang="en"/>
              <a:t>1/3</a:t>
            </a:r>
            <a:r>
              <a:rPr lang="en"/>
              <a:t>, </a:t>
            </a:r>
            <a:r>
              <a:rPr lang="en"/>
              <a:t>2/3</a:t>
            </a:r>
            <a:r>
              <a:rPr lang="en"/>
              <a:t>, 3/3, 4/3</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2fd693d6fd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2fd693d6fd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calculator{7}.c</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1/3</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88892e747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88892e747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ee4e5a99f9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ee4e5a99f9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ee4e5a99f9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ee4e5a99f9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ee4e5a99f9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ee4e5a99f9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88892e747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88892e747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970b0aa126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970b0aa126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ee4e5a99f9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ee4e5a99f9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88892e747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6" name="Google Shape;1206;g388892e747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https://time.cs50.io/20380119T031407+0000</a:t>
            </a:r>
            <a:r>
              <a:rPr lang="en"/>
              <a:t>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88892e7476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388892e7476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500b3df67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500b3df67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1600"/>
              </a:spcBef>
              <a:spcAft>
                <a:spcPts val="0"/>
              </a:spcAft>
              <a:buClr>
                <a:schemeClr val="dk1"/>
              </a:buClr>
              <a:buSzPts val="1400"/>
              <a:buChar char="○"/>
              <a:defRPr>
                <a:solidFill>
                  <a:schemeClr val="dk1"/>
                </a:solidFill>
              </a:defRPr>
            </a:lvl2pPr>
            <a:lvl3pPr indent="-317500" lvl="2" marL="1371600">
              <a:spcBef>
                <a:spcPts val="1600"/>
              </a:spcBef>
              <a:spcAft>
                <a:spcPts val="0"/>
              </a:spcAft>
              <a:buClr>
                <a:schemeClr val="dk1"/>
              </a:buClr>
              <a:buSzPts val="1400"/>
              <a:buChar char="■"/>
              <a:defRPr>
                <a:solidFill>
                  <a:schemeClr val="dk1"/>
                </a:solidFill>
              </a:defRPr>
            </a:lvl3pPr>
            <a:lvl4pPr indent="-317500" lvl="3" marL="1828800">
              <a:spcBef>
                <a:spcPts val="1600"/>
              </a:spcBef>
              <a:spcAft>
                <a:spcPts val="0"/>
              </a:spcAft>
              <a:buClr>
                <a:schemeClr val="dk1"/>
              </a:buClr>
              <a:buSzPts val="1400"/>
              <a:buChar char="●"/>
              <a:defRPr>
                <a:solidFill>
                  <a:schemeClr val="dk1"/>
                </a:solidFill>
              </a:defRPr>
            </a:lvl4pPr>
            <a:lvl5pPr indent="-317500" lvl="4" marL="2286000">
              <a:spcBef>
                <a:spcPts val="1600"/>
              </a:spcBef>
              <a:spcAft>
                <a:spcPts val="0"/>
              </a:spcAft>
              <a:buClr>
                <a:schemeClr val="dk1"/>
              </a:buClr>
              <a:buSzPts val="1400"/>
              <a:buChar char="○"/>
              <a:defRPr>
                <a:solidFill>
                  <a:schemeClr val="dk1"/>
                </a:solidFill>
              </a:defRPr>
            </a:lvl5pPr>
            <a:lvl6pPr indent="-317500" lvl="5" marL="2743200">
              <a:spcBef>
                <a:spcPts val="1600"/>
              </a:spcBef>
              <a:spcAft>
                <a:spcPts val="0"/>
              </a:spcAft>
              <a:buClr>
                <a:schemeClr val="dk1"/>
              </a:buClr>
              <a:buSzPts val="1400"/>
              <a:buChar char="■"/>
              <a:defRPr>
                <a:solidFill>
                  <a:schemeClr val="dk1"/>
                </a:solidFill>
              </a:defRPr>
            </a:lvl6pPr>
            <a:lvl7pPr indent="-317500" lvl="6" marL="3200400">
              <a:spcBef>
                <a:spcPts val="1600"/>
              </a:spcBef>
              <a:spcAft>
                <a:spcPts val="0"/>
              </a:spcAft>
              <a:buClr>
                <a:schemeClr val="dk1"/>
              </a:buClr>
              <a:buSzPts val="1400"/>
              <a:buChar char="●"/>
              <a:defRPr>
                <a:solidFill>
                  <a:schemeClr val="dk1"/>
                </a:solidFill>
              </a:defRPr>
            </a:lvl7pPr>
            <a:lvl8pPr indent="-317500" lvl="7" marL="3657600">
              <a:spcBef>
                <a:spcPts val="1600"/>
              </a:spcBef>
              <a:spcAft>
                <a:spcPts val="0"/>
              </a:spcAft>
              <a:buClr>
                <a:schemeClr val="dk1"/>
              </a:buClr>
              <a:buSzPts val="1400"/>
              <a:buChar char="○"/>
              <a:defRPr>
                <a:solidFill>
                  <a:schemeClr val="dk1"/>
                </a:solidFill>
              </a:defRPr>
            </a:lvl8pPr>
            <a:lvl9pPr indent="-317500" lvl="8" marL="411480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1600"/>
              </a:spcBef>
              <a:spcAft>
                <a:spcPts val="0"/>
              </a:spcAft>
              <a:buClr>
                <a:schemeClr val="lt2"/>
              </a:buClr>
              <a:buSzPts val="1400"/>
              <a:buChar char="○"/>
              <a:defRPr>
                <a:solidFill>
                  <a:schemeClr val="lt2"/>
                </a:solidFill>
              </a:defRPr>
            </a:lvl2pPr>
            <a:lvl3pPr indent="-317500" lvl="2" marL="1371600">
              <a:lnSpc>
                <a:spcPct val="115000"/>
              </a:lnSpc>
              <a:spcBef>
                <a:spcPts val="1600"/>
              </a:spcBef>
              <a:spcAft>
                <a:spcPts val="0"/>
              </a:spcAft>
              <a:buClr>
                <a:schemeClr val="lt2"/>
              </a:buClr>
              <a:buSzPts val="1400"/>
              <a:buChar char="■"/>
              <a:defRPr>
                <a:solidFill>
                  <a:schemeClr val="lt2"/>
                </a:solidFill>
              </a:defRPr>
            </a:lvl3pPr>
            <a:lvl4pPr indent="-317500" lvl="3" marL="1828800">
              <a:lnSpc>
                <a:spcPct val="115000"/>
              </a:lnSpc>
              <a:spcBef>
                <a:spcPts val="1600"/>
              </a:spcBef>
              <a:spcAft>
                <a:spcPts val="0"/>
              </a:spcAft>
              <a:buClr>
                <a:schemeClr val="lt2"/>
              </a:buClr>
              <a:buSzPts val="1400"/>
              <a:buChar char="●"/>
              <a:defRPr>
                <a:solidFill>
                  <a:schemeClr val="lt2"/>
                </a:solidFill>
              </a:defRPr>
            </a:lvl4pPr>
            <a:lvl5pPr indent="-317500" lvl="4" marL="2286000">
              <a:lnSpc>
                <a:spcPct val="115000"/>
              </a:lnSpc>
              <a:spcBef>
                <a:spcPts val="1600"/>
              </a:spcBef>
              <a:spcAft>
                <a:spcPts val="0"/>
              </a:spcAft>
              <a:buClr>
                <a:schemeClr val="lt2"/>
              </a:buClr>
              <a:buSzPts val="1400"/>
              <a:buChar char="○"/>
              <a:defRPr>
                <a:solidFill>
                  <a:schemeClr val="lt2"/>
                </a:solidFill>
              </a:defRPr>
            </a:lvl5pPr>
            <a:lvl6pPr indent="-317500" lvl="5" marL="2743200">
              <a:lnSpc>
                <a:spcPct val="115000"/>
              </a:lnSpc>
              <a:spcBef>
                <a:spcPts val="1600"/>
              </a:spcBef>
              <a:spcAft>
                <a:spcPts val="0"/>
              </a:spcAft>
              <a:buClr>
                <a:schemeClr val="lt2"/>
              </a:buClr>
              <a:buSzPts val="1400"/>
              <a:buChar char="■"/>
              <a:defRPr>
                <a:solidFill>
                  <a:schemeClr val="lt2"/>
                </a:solidFill>
              </a:defRPr>
            </a:lvl6pPr>
            <a:lvl7pPr indent="-317500" lvl="6" marL="3200400">
              <a:lnSpc>
                <a:spcPct val="115000"/>
              </a:lnSpc>
              <a:spcBef>
                <a:spcPts val="1600"/>
              </a:spcBef>
              <a:spcAft>
                <a:spcPts val="0"/>
              </a:spcAft>
              <a:buClr>
                <a:schemeClr val="lt2"/>
              </a:buClr>
              <a:buSzPts val="1400"/>
              <a:buChar char="●"/>
              <a:defRPr>
                <a:solidFill>
                  <a:schemeClr val="lt2"/>
                </a:solidFill>
              </a:defRPr>
            </a:lvl7pPr>
            <a:lvl8pPr indent="-317500" lvl="7" marL="3657600">
              <a:lnSpc>
                <a:spcPct val="115000"/>
              </a:lnSpc>
              <a:spcBef>
                <a:spcPts val="1600"/>
              </a:spcBef>
              <a:spcAft>
                <a:spcPts val="0"/>
              </a:spcAft>
              <a:buClr>
                <a:schemeClr val="lt2"/>
              </a:buClr>
              <a:buSzPts val="1400"/>
              <a:buChar char="○"/>
              <a:defRPr>
                <a:solidFill>
                  <a:schemeClr val="lt2"/>
                </a:solidFill>
              </a:defRPr>
            </a:lvl8pPr>
            <a:lvl9pPr indent="-317500" lvl="8" marL="4114800">
              <a:lnSpc>
                <a:spcPct val="115000"/>
              </a:lnSpc>
              <a:spcBef>
                <a:spcPts val="1600"/>
              </a:spcBef>
              <a:spcAft>
                <a:spcPts val="160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000000"/>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Char char="●"/>
              <a:defRPr sz="1800">
                <a:solidFill>
                  <a:schemeClr val="lt2"/>
                </a:solidFill>
              </a:defRPr>
            </a:lvl1pPr>
            <a:lvl2pPr indent="-317500" lvl="1" marL="914400" rtl="0">
              <a:lnSpc>
                <a:spcPct val="115000"/>
              </a:lnSpc>
              <a:spcBef>
                <a:spcPts val="1600"/>
              </a:spcBef>
              <a:spcAft>
                <a:spcPts val="0"/>
              </a:spcAft>
              <a:buClr>
                <a:schemeClr val="lt2"/>
              </a:buClr>
              <a:buSzPts val="1400"/>
              <a:buChar char="○"/>
              <a:defRPr>
                <a:solidFill>
                  <a:schemeClr val="lt2"/>
                </a:solidFill>
              </a:defRPr>
            </a:lvl2pPr>
            <a:lvl3pPr indent="-317500" lvl="2" marL="1371600" rtl="0">
              <a:lnSpc>
                <a:spcPct val="115000"/>
              </a:lnSpc>
              <a:spcBef>
                <a:spcPts val="1600"/>
              </a:spcBef>
              <a:spcAft>
                <a:spcPts val="0"/>
              </a:spcAft>
              <a:buClr>
                <a:schemeClr val="lt2"/>
              </a:buClr>
              <a:buSzPts val="1400"/>
              <a:buChar char="■"/>
              <a:defRPr>
                <a:solidFill>
                  <a:schemeClr val="lt2"/>
                </a:solidFill>
              </a:defRPr>
            </a:lvl3pPr>
            <a:lvl4pPr indent="-317500" lvl="3" marL="1828800" rtl="0">
              <a:lnSpc>
                <a:spcPct val="115000"/>
              </a:lnSpc>
              <a:spcBef>
                <a:spcPts val="1600"/>
              </a:spcBef>
              <a:spcAft>
                <a:spcPts val="0"/>
              </a:spcAft>
              <a:buClr>
                <a:schemeClr val="lt2"/>
              </a:buClr>
              <a:buSzPts val="1400"/>
              <a:buChar char="●"/>
              <a:defRPr>
                <a:solidFill>
                  <a:schemeClr val="lt2"/>
                </a:solidFill>
              </a:defRPr>
            </a:lvl4pPr>
            <a:lvl5pPr indent="-317500" lvl="4" marL="2286000" rtl="0">
              <a:lnSpc>
                <a:spcPct val="115000"/>
              </a:lnSpc>
              <a:spcBef>
                <a:spcPts val="1600"/>
              </a:spcBef>
              <a:spcAft>
                <a:spcPts val="0"/>
              </a:spcAft>
              <a:buClr>
                <a:schemeClr val="lt2"/>
              </a:buClr>
              <a:buSzPts val="1400"/>
              <a:buChar char="○"/>
              <a:defRPr>
                <a:solidFill>
                  <a:schemeClr val="lt2"/>
                </a:solidFill>
              </a:defRPr>
            </a:lvl5pPr>
            <a:lvl6pPr indent="-317500" lvl="5" marL="2743200" rtl="0">
              <a:lnSpc>
                <a:spcPct val="115000"/>
              </a:lnSpc>
              <a:spcBef>
                <a:spcPts val="1600"/>
              </a:spcBef>
              <a:spcAft>
                <a:spcPts val="0"/>
              </a:spcAft>
              <a:buClr>
                <a:schemeClr val="lt2"/>
              </a:buClr>
              <a:buSzPts val="1400"/>
              <a:buChar char="■"/>
              <a:defRPr>
                <a:solidFill>
                  <a:schemeClr val="lt2"/>
                </a:solidFill>
              </a:defRPr>
            </a:lvl6pPr>
            <a:lvl7pPr indent="-317500" lvl="6" marL="3200400" rtl="0">
              <a:lnSpc>
                <a:spcPct val="115000"/>
              </a:lnSpc>
              <a:spcBef>
                <a:spcPts val="1600"/>
              </a:spcBef>
              <a:spcAft>
                <a:spcPts val="0"/>
              </a:spcAft>
              <a:buClr>
                <a:schemeClr val="lt2"/>
              </a:buClr>
              <a:buSzPts val="1400"/>
              <a:buChar char="●"/>
              <a:defRPr>
                <a:solidFill>
                  <a:schemeClr val="lt2"/>
                </a:solidFill>
              </a:defRPr>
            </a:lvl7pPr>
            <a:lvl8pPr indent="-317500" lvl="7" marL="3657600" rtl="0">
              <a:lnSpc>
                <a:spcPct val="115000"/>
              </a:lnSpc>
              <a:spcBef>
                <a:spcPts val="1600"/>
              </a:spcBef>
              <a:spcAft>
                <a:spcPts val="0"/>
              </a:spcAft>
              <a:buClr>
                <a:schemeClr val="lt2"/>
              </a:buClr>
              <a:buSzPts val="1400"/>
              <a:buChar char="○"/>
              <a:defRPr>
                <a:solidFill>
                  <a:schemeClr val="lt2"/>
                </a:solidFill>
              </a:defRPr>
            </a:lvl8pPr>
            <a:lvl9pPr indent="-317500" lvl="8" marL="4114800" rtl="0">
              <a:lnSpc>
                <a:spcPct val="115000"/>
              </a:lnSpc>
              <a:spcBef>
                <a:spcPts val="1600"/>
              </a:spcBef>
              <a:spcAft>
                <a:spcPts val="1600"/>
              </a:spcAft>
              <a:buClr>
                <a:schemeClr val="lt2"/>
              </a:buClr>
              <a:buSzPts val="1400"/>
              <a:buChar char="■"/>
              <a:defRPr>
                <a:solidFill>
                  <a:schemeClr val="lt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defRPr>
            </a:lvl1pPr>
            <a:lvl2pPr lvl="1" rtl="0" algn="r">
              <a:buNone/>
              <a:defRPr sz="1000">
                <a:solidFill>
                  <a:schemeClr val="lt2"/>
                </a:solidFill>
              </a:defRPr>
            </a:lvl2pPr>
            <a:lvl3pPr lvl="2" rtl="0" algn="r">
              <a:buNone/>
              <a:defRPr sz="1000">
                <a:solidFill>
                  <a:schemeClr val="lt2"/>
                </a:solidFill>
              </a:defRPr>
            </a:lvl3pPr>
            <a:lvl4pPr lvl="3" rtl="0" algn="r">
              <a:buNone/>
              <a:defRPr sz="1000">
                <a:solidFill>
                  <a:schemeClr val="lt2"/>
                </a:solidFill>
              </a:defRPr>
            </a:lvl4pPr>
            <a:lvl5pPr lvl="4" rtl="0" algn="r">
              <a:buNone/>
              <a:defRPr sz="1000">
                <a:solidFill>
                  <a:schemeClr val="lt2"/>
                </a:solidFill>
              </a:defRPr>
            </a:lvl5pPr>
            <a:lvl6pPr lvl="5" rtl="0" algn="r">
              <a:buNone/>
              <a:defRPr sz="1000">
                <a:solidFill>
                  <a:schemeClr val="lt2"/>
                </a:solidFill>
              </a:defRPr>
            </a:lvl6pPr>
            <a:lvl7pPr lvl="6" rtl="0" algn="r">
              <a:buNone/>
              <a:defRPr sz="1000">
                <a:solidFill>
                  <a:schemeClr val="lt2"/>
                </a:solidFill>
              </a:defRPr>
            </a:lvl7pPr>
            <a:lvl8pPr lvl="7" rtl="0" algn="r">
              <a:buNone/>
              <a:defRPr sz="1000">
                <a:solidFill>
                  <a:schemeClr val="lt2"/>
                </a:solidFill>
              </a:defRPr>
            </a:lvl8pPr>
            <a:lvl9pPr lvl="8" rtl="0"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s50.dev" TargetMode="External"/><Relationship Id="rId4" Type="http://schemas.openxmlformats.org/officeDocument/2006/relationships/hyperlink" Target="https://cs50.ly/stud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s50.dev"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hyperlink" Target="https://manual.cs50.io/"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manual.cs50.io/#stdio.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manual.cs50.io/3/printf"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manual.cs50.io/#cs50.h"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 Id="rId3"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 Id="rId3"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 Id="rId3" Type="http://schemas.openxmlformats.org/officeDocument/2006/relationships/image" Target="../media/image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 Id="rId3"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 Id="rId3"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0.xml"/><Relationship Id="rId3" Type="http://schemas.openxmlformats.org/officeDocument/2006/relationships/image" Target="../media/image1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1.xml"/><Relationship Id="rId3" Type="http://schemas.openxmlformats.org/officeDocument/2006/relationships/image" Target="../media/image1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2.xml"/><Relationship Id="rId3"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3.xml"/><Relationship Id="rId3" Type="http://schemas.openxmlformats.org/officeDocument/2006/relationships/image" Target="../media/image1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7.xml"/><Relationship Id="rId3" Type="http://schemas.openxmlformats.org/officeDocument/2006/relationships/image" Target="../media/image1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 Id="rId3" Type="http://schemas.openxmlformats.org/officeDocument/2006/relationships/image" Target="../media/image1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9.xml"/><Relationship Id="rId3" Type="http://schemas.openxmlformats.org/officeDocument/2006/relationships/image" Target="../media/image1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0.xml"/><Relationship Id="rId3" Type="http://schemas.openxmlformats.org/officeDocument/2006/relationships/image" Target="../media/image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1.xml"/><Relationship Id="rId3" Type="http://schemas.openxmlformats.org/officeDocument/2006/relationships/image" Target="../media/image1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2.xml"/><Relationship Id="rId3" Type="http://schemas.openxmlformats.org/officeDocument/2006/relationships/image" Target="../media/image1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3.xml"/><Relationship Id="rId3" Type="http://schemas.openxmlformats.org/officeDocument/2006/relationships/image" Target="../media/image2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4.xml"/><Relationship Id="rId3" Type="http://schemas.openxmlformats.org/officeDocument/2006/relationships/image" Target="../media/image2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 Id="rId3" Type="http://schemas.openxmlformats.org/officeDocument/2006/relationships/image" Target="../media/image2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6.xml"/><Relationship Id="rId3" Type="http://schemas.openxmlformats.org/officeDocument/2006/relationships/image" Target="../media/image17.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 Id="rId3" Type="http://schemas.openxmlformats.org/officeDocument/2006/relationships/image" Target="../media/image1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0.xml"/><Relationship Id="rId3" Type="http://schemas.openxmlformats.org/officeDocument/2006/relationships/image" Target="../media/image1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1.xml"/><Relationship Id="rId3" Type="http://schemas.openxmlformats.org/officeDocument/2006/relationships/image" Target="../media/image1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2.xml"/><Relationship Id="rId3" Type="http://schemas.openxmlformats.org/officeDocument/2006/relationships/image" Target="../media/image1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3.xml"/><Relationship Id="rId3" Type="http://schemas.openxmlformats.org/officeDocument/2006/relationships/image" Target="../media/image2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4.xml"/><Relationship Id="rId3" Type="http://schemas.openxmlformats.org/officeDocument/2006/relationships/image" Target="../media/image2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5.xml"/><Relationship Id="rId3" Type="http://schemas.openxmlformats.org/officeDocument/2006/relationships/image" Target="../media/image2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6.xml"/><Relationship Id="rId3" Type="http://schemas.openxmlformats.org/officeDocument/2006/relationships/image" Target="../media/image2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7.xml"/><Relationship Id="rId3" Type="http://schemas.openxmlformats.org/officeDocument/2006/relationships/image" Target="../media/image3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8.xml"/><Relationship Id="rId3" Type="http://schemas.openxmlformats.org/officeDocument/2006/relationships/image" Target="../media/image2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9.xml"/><Relationship Id="rId3" Type="http://schemas.openxmlformats.org/officeDocument/2006/relationships/image" Target="../media/image2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0.xml"/><Relationship Id="rId3" Type="http://schemas.openxmlformats.org/officeDocument/2006/relationships/image" Target="../media/image2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1.xml"/><Relationship Id="rId3" Type="http://schemas.openxmlformats.org/officeDocument/2006/relationships/image" Target="../media/image2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2.xml"/><Relationship Id="rId3" Type="http://schemas.openxmlformats.org/officeDocument/2006/relationships/image" Target="../media/image2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6.xml"/><Relationship Id="rId3" Type="http://schemas.openxmlformats.org/officeDocument/2006/relationships/image" Target="../media/image2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7.xml"/><Relationship Id="rId3" Type="http://schemas.openxmlformats.org/officeDocument/2006/relationships/image" Target="../media/image2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8.xml"/><Relationship Id="rId3" Type="http://schemas.openxmlformats.org/officeDocument/2006/relationships/image" Target="../media/image2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9.xml"/><Relationship Id="rId3" Type="http://schemas.openxmlformats.org/officeDocument/2006/relationships/image" Target="../media/image2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0.xml"/><Relationship Id="rId3" Type="http://schemas.openxmlformats.org/officeDocument/2006/relationships/image" Target="../media/image2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1.xml"/><Relationship Id="rId3" Type="http://schemas.openxmlformats.org/officeDocument/2006/relationships/image" Target="../media/image2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2.xml"/><Relationship Id="rId3" Type="http://schemas.openxmlformats.org/officeDocument/2006/relationships/image" Target="../media/image2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3.xml"/><Relationship Id="rId3" Type="http://schemas.openxmlformats.org/officeDocument/2006/relationships/image" Target="../media/image3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4.xml"/><Relationship Id="rId3" Type="http://schemas.openxmlformats.org/officeDocument/2006/relationships/image" Target="../media/image3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5.xml"/><Relationship Id="rId3" Type="http://schemas.openxmlformats.org/officeDocument/2006/relationships/image" Target="../media/image3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6.xml"/><Relationship Id="rId3" Type="http://schemas.openxmlformats.org/officeDocument/2006/relationships/image" Target="../media/image3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3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3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1.xml"/><Relationship Id="rId3" Type="http://schemas.openxmlformats.org/officeDocument/2006/relationships/image" Target="../media/image3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2.xml"/><Relationship Id="rId3" Type="http://schemas.openxmlformats.org/officeDocument/2006/relationships/image" Target="../media/image3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3.xml"/><Relationship Id="rId3" Type="http://schemas.openxmlformats.org/officeDocument/2006/relationships/image" Target="../media/image3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4.xml"/><Relationship Id="rId3" Type="http://schemas.openxmlformats.org/officeDocument/2006/relationships/image" Target="../media/image30.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5.xml"/><Relationship Id="rId3" Type="http://schemas.openxmlformats.org/officeDocument/2006/relationships/image" Target="../media/image3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6.xml"/><Relationship Id="rId3" Type="http://schemas.openxmlformats.org/officeDocument/2006/relationships/image" Target="../media/image3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7.xml"/><Relationship Id="rId3" Type="http://schemas.openxmlformats.org/officeDocument/2006/relationships/image" Target="../media/image3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8.xml"/><Relationship Id="rId3" Type="http://schemas.openxmlformats.org/officeDocument/2006/relationships/image" Target="../media/image3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9.xml"/><Relationship Id="rId3" Type="http://schemas.openxmlformats.org/officeDocument/2006/relationships/image" Target="../media/image3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0.xml"/><Relationship Id="rId3" Type="http://schemas.openxmlformats.org/officeDocument/2006/relationships/image" Target="../media/image40.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1.xml"/><Relationship Id="rId3" Type="http://schemas.openxmlformats.org/officeDocument/2006/relationships/image" Target="../media/image4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7.xml"/><Relationship Id="rId3" Type="http://schemas.openxmlformats.org/officeDocument/2006/relationships/image" Target="../media/image39.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8.xml"/><Relationship Id="rId3" Type="http://schemas.openxmlformats.org/officeDocument/2006/relationships/image" Target="../media/image4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9.xml"/><Relationship Id="rId3" Type="http://schemas.openxmlformats.org/officeDocument/2006/relationships/image" Target="../media/image4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0.xml"/><Relationship Id="rId3" Type="http://schemas.openxmlformats.org/officeDocument/2006/relationships/image" Target="../media/image5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1.xml"/><Relationship Id="rId3" Type="http://schemas.openxmlformats.org/officeDocument/2006/relationships/image" Target="../media/image4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2.xml"/><Relationship Id="rId3" Type="http://schemas.openxmlformats.org/officeDocument/2006/relationships/image" Target="../media/image4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3.xml"/><Relationship Id="rId3" Type="http://schemas.openxmlformats.org/officeDocument/2006/relationships/image" Target="../media/image47.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8.xml"/><Relationship Id="rId3" Type="http://schemas.openxmlformats.org/officeDocument/2006/relationships/image" Target="../media/image4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9.xml"/><Relationship Id="rId3" Type="http://schemas.openxmlformats.org/officeDocument/2006/relationships/image" Target="../media/image4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0.xml"/><Relationship Id="rId3" Type="http://schemas.openxmlformats.org/officeDocument/2006/relationships/image" Target="../media/image4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1.xml"/><Relationship Id="rId3" Type="http://schemas.openxmlformats.org/officeDocument/2006/relationships/image" Target="../media/image49.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 name="Shape 98"/>
        <p:cNvGrpSpPr/>
        <p:nvPr/>
      </p:nvGrpSpPr>
      <p:grpSpPr>
        <a:xfrm>
          <a:off x="0" y="0"/>
          <a:ext cx="0" cy="0"/>
          <a:chOff x="0" y="0"/>
          <a:chExt cx="0" cy="0"/>
        </a:xfrm>
      </p:grpSpPr>
      <p:pic>
        <p:nvPicPr>
          <p:cNvPr id="99" name="Google Shape;99;p25"/>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 name="Shape 103"/>
        <p:cNvGrpSpPr/>
        <p:nvPr/>
      </p:nvGrpSpPr>
      <p:grpSpPr>
        <a:xfrm>
          <a:off x="0" y="0"/>
          <a:ext cx="0" cy="0"/>
          <a:chOff x="0" y="0"/>
          <a:chExt cx="0" cy="0"/>
        </a:xfrm>
      </p:grpSpPr>
      <p:sp>
        <p:nvSpPr>
          <p:cNvPr id="104" name="Google Shape;104;p26"/>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Char char="●"/>
            </a:pPr>
            <a:r>
              <a:rPr lang="en" sz="1700">
                <a:solidFill>
                  <a:schemeClr val="dk1"/>
                </a:solidFill>
              </a:rPr>
              <a:t>Visit </a:t>
            </a:r>
            <a:r>
              <a:rPr lang="en" sz="1700">
                <a:solidFill>
                  <a:srgbClr val="FFFF00"/>
                </a:solidFill>
                <a:uFill>
                  <a:noFill/>
                </a:uFill>
                <a:hlinkClick r:id="rId3">
                  <a:extLst>
                    <a:ext uri="{A12FA001-AC4F-418D-AE19-62706E023703}">
                      <ahyp:hlinkClr val="tx"/>
                    </a:ext>
                  </a:extLst>
                </a:hlinkClick>
              </a:rPr>
              <a:t>cs50.dev</a:t>
            </a:r>
            <a:r>
              <a:rPr lang="en" sz="1700">
                <a:solidFill>
                  <a:schemeClr val="dk1"/>
                </a:solidFill>
              </a:rPr>
              <a:t> if you'd like to try writing some code during class, but no need to!</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 sz="1700">
                <a:solidFill>
                  <a:schemeClr val="dk1"/>
                </a:solidFill>
              </a:rPr>
              <a:t>We'll take a </a:t>
            </a:r>
            <a:r>
              <a:rPr lang="en" sz="1700">
                <a:solidFill>
                  <a:srgbClr val="FFFF00"/>
                </a:solidFill>
              </a:rPr>
              <a:t>break</a:t>
            </a:r>
            <a:r>
              <a:rPr lang="en" sz="1700">
                <a:solidFill>
                  <a:schemeClr val="dk1"/>
                </a:solidFill>
              </a:rPr>
              <a:t> partway through class, with muffins for snacks! </a:t>
            </a:r>
            <a:r>
              <a:rPr lang="en"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 sz="1700">
                <a:solidFill>
                  <a:schemeClr val="dk1"/>
                </a:solidFill>
              </a:rPr>
              <a:t>Looking for a study buddy? Submit </a:t>
            </a:r>
            <a:r>
              <a:rPr lang="en" sz="1700">
                <a:solidFill>
                  <a:srgbClr val="FFFF00"/>
                </a:solidFill>
                <a:uFill>
                  <a:noFill/>
                </a:uFill>
                <a:hlinkClick r:id="rId4">
                  <a:extLst>
                    <a:ext uri="{A12FA001-AC4F-418D-AE19-62706E023703}">
                      <ahyp:hlinkClr val="tx"/>
                    </a:ext>
                  </a:extLst>
                </a:hlinkClick>
              </a:rPr>
              <a:t>cs50.ly/study</a:t>
            </a:r>
            <a:r>
              <a:rPr lang="en" sz="1700">
                <a:solidFill>
                  <a:srgbClr val="FFFF00"/>
                </a:solidFill>
              </a:rPr>
              <a:t>buddy</a:t>
            </a:r>
            <a:r>
              <a:rPr lang="en"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 sz="1700">
                <a:solidFill>
                  <a:schemeClr val="dk1"/>
                </a:solidFill>
              </a:rPr>
              <a:t>Like to attend the first CS50 Lunch this Fri 9/12 at 1:15pm? RSVP at </a:t>
            </a:r>
            <a:r>
              <a:rPr lang="en" sz="1700">
                <a:solidFill>
                  <a:srgbClr val="FFFF00"/>
                </a:solidFill>
              </a:rPr>
              <a:t>cs50.ly/lunch</a:t>
            </a:r>
            <a:r>
              <a:rPr lang="en" sz="1700">
                <a:solidFill>
                  <a:schemeClr val="dk1"/>
                </a:solidFill>
              </a:rPr>
              <a:t>!</a:t>
            </a:r>
            <a:endParaRPr sz="1700">
              <a:solidFill>
                <a:schemeClr val="dk1"/>
              </a:solidFill>
            </a:endParaRPr>
          </a:p>
          <a:p>
            <a:pPr indent="-336550" lvl="0" marL="457200" rtl="0" algn="l">
              <a:lnSpc>
                <a:spcPct val="100000"/>
              </a:lnSpc>
              <a:spcBef>
                <a:spcPts val="0"/>
              </a:spcBef>
              <a:spcAft>
                <a:spcPts val="0"/>
              </a:spcAft>
              <a:buClr>
                <a:schemeClr val="dk1"/>
              </a:buClr>
              <a:buSzPts val="1700"/>
              <a:buChar char="●"/>
            </a:pPr>
            <a:r>
              <a:rPr lang="en" sz="1700">
                <a:solidFill>
                  <a:schemeClr val="dk1"/>
                </a:solidFill>
              </a:rPr>
              <a:t>Do </a:t>
            </a:r>
            <a:r>
              <a:rPr lang="en" sz="1700">
                <a:solidFill>
                  <a:srgbClr val="FFFF00"/>
                </a:solidFill>
              </a:rPr>
              <a:t>say</a:t>
            </a:r>
            <a:r>
              <a:rPr lang="en" sz="1700">
                <a:solidFill>
                  <a:schemeClr val="dk1"/>
                </a:solidFill>
              </a:rPr>
              <a:t> </a:t>
            </a:r>
            <a:r>
              <a:rPr lang="en" sz="1700">
                <a:solidFill>
                  <a:srgbClr val="FFFF00"/>
                </a:solidFill>
              </a:rPr>
              <a:t>hi </a:t>
            </a:r>
            <a:r>
              <a:rPr lang="en" sz="1700">
                <a:solidFill>
                  <a:schemeClr val="dk1"/>
                </a:solidFill>
              </a:rPr>
              <a:t>or</a:t>
            </a:r>
            <a:r>
              <a:rPr lang="en" sz="1700">
                <a:solidFill>
                  <a:srgbClr val="FFFF00"/>
                </a:solidFill>
              </a:rPr>
              <a:t> ask questions</a:t>
            </a:r>
            <a:r>
              <a:rPr lang="en" sz="1700">
                <a:solidFill>
                  <a:schemeClr val="dk1"/>
                </a:solidFill>
              </a:rPr>
              <a:t> during break or after class!</a:t>
            </a:r>
            <a:endParaRPr sz="1700">
              <a:solidFill>
                <a:schemeClr val="dk1"/>
              </a:solidFill>
            </a:endParaRPr>
          </a:p>
          <a:p>
            <a:pPr indent="-336550" lvl="1" marL="914400" rtl="0" algn="l">
              <a:lnSpc>
                <a:spcPct val="100000"/>
              </a:lnSpc>
              <a:spcBef>
                <a:spcPts val="0"/>
              </a:spcBef>
              <a:spcAft>
                <a:spcPts val="0"/>
              </a:spcAft>
              <a:buClr>
                <a:schemeClr val="dk1"/>
              </a:buClr>
              <a:buSzPts val="1700"/>
              <a:buChar char="○"/>
            </a:pPr>
            <a:r>
              <a:rPr lang="en" sz="1700">
                <a:solidFill>
                  <a:schemeClr val="dk1"/>
                </a:solidFill>
              </a:rPr>
              <a:t>What do today's binary bulbs spell?</a:t>
            </a:r>
            <a:endParaRPr sz="1700">
              <a:solidFill>
                <a:schemeClr val="dk1"/>
              </a:solidFill>
            </a:endParaRPr>
          </a:p>
          <a:p>
            <a:pPr indent="0" lvl="0" marL="0" rtl="0" algn="l">
              <a:lnSpc>
                <a:spcPct val="100000"/>
              </a:lnSpc>
              <a:spcBef>
                <a:spcPts val="1600"/>
              </a:spcBef>
              <a:spcAft>
                <a:spcPts val="0"/>
              </a:spcAft>
              <a:buNone/>
            </a:pPr>
            <a:r>
              <a:t/>
            </a:r>
            <a:endParaRPr sz="1700">
              <a:solidFill>
                <a:schemeClr val="dk1"/>
              </a:solidFill>
            </a:endParaRPr>
          </a:p>
          <a:p>
            <a:pPr indent="0" lvl="0" marL="0" rtl="0" algn="l">
              <a:lnSpc>
                <a:spcPct val="100000"/>
              </a:lnSpc>
              <a:spcBef>
                <a:spcPts val="1600"/>
              </a:spcBef>
              <a:spcAft>
                <a:spcPts val="0"/>
              </a:spcAft>
              <a:buNone/>
            </a:pPr>
            <a:r>
              <a:rPr lang="en" sz="1700">
                <a:solidFill>
                  <a:schemeClr val="dk1"/>
                </a:solidFill>
              </a:rPr>
              <a:t>And congratulations to CS50 Puzzle Day's winners!</a:t>
            </a:r>
            <a:endParaRPr sz="1700">
              <a:solidFill>
                <a:schemeClr val="dk1"/>
              </a:solidFill>
            </a:endParaRPr>
          </a:p>
          <a:p>
            <a:pPr indent="0" lvl="0" marL="0" rtl="0" algn="l">
              <a:lnSpc>
                <a:spcPct val="100000"/>
              </a:lnSpc>
              <a:spcBef>
                <a:spcPts val="1600"/>
              </a:spcBef>
              <a:spcAft>
                <a:spcPts val="1600"/>
              </a:spcAft>
              <a:buNone/>
            </a:pPr>
            <a:r>
              <a:rPr lang="en" sz="1700">
                <a:solidFill>
                  <a:schemeClr val="dk1"/>
                </a:solidFill>
              </a:rPr>
              <a:t>🥇 </a:t>
            </a:r>
            <a:r>
              <a:rPr b="1" lang="en" sz="1700">
                <a:solidFill>
                  <a:schemeClr val="dk1"/>
                </a:solidFill>
              </a:rPr>
              <a:t>bzzt, i clue plum</a:t>
            </a:r>
            <a:r>
              <a:rPr lang="en" sz="1700">
                <a:solidFill>
                  <a:schemeClr val="dk1"/>
                </a:solidFill>
              </a:rPr>
              <a:t>, Annie Guo, Marvin Mao, Rachel Gao, Kaylee Ji</a:t>
            </a:r>
            <a:br>
              <a:rPr lang="en" sz="1700">
                <a:solidFill>
                  <a:schemeClr val="dk1"/>
                </a:solidFill>
              </a:rPr>
            </a:br>
            <a:r>
              <a:rPr lang="en" sz="1700">
                <a:solidFill>
                  <a:schemeClr val="dk1"/>
                </a:solidFill>
              </a:rPr>
              <a:t>🥈 </a:t>
            </a:r>
            <a:r>
              <a:rPr b="1" lang="en" sz="1700">
                <a:solidFill>
                  <a:schemeClr val="dk1"/>
                </a:solidFill>
              </a:rPr>
              <a:t>Grad Unified Theory</a:t>
            </a:r>
            <a:r>
              <a:rPr lang="en" sz="1700">
                <a:solidFill>
                  <a:schemeClr val="dk1"/>
                </a:solidFill>
              </a:rPr>
              <a:t>, Nicholas Sbalbi, Gautam Prabhu, Alex Stoneman, John Bell</a:t>
            </a:r>
            <a:br>
              <a:rPr lang="en" sz="1700">
                <a:solidFill>
                  <a:schemeClr val="dk1"/>
                </a:solidFill>
              </a:rPr>
            </a:br>
            <a:r>
              <a:rPr lang="en" sz="1700">
                <a:solidFill>
                  <a:schemeClr val="dk1"/>
                </a:solidFill>
              </a:rPr>
              <a:t>🥉 </a:t>
            </a:r>
            <a:r>
              <a:rPr b="1" lang="en" sz="1700">
                <a:solidFill>
                  <a:schemeClr val="dk1"/>
                </a:solidFill>
              </a:rPr>
              <a:t>The 8.5th Shard</a:t>
            </a:r>
            <a:r>
              <a:rPr lang="en" sz="1700">
                <a:solidFill>
                  <a:schemeClr val="dk1"/>
                </a:solidFill>
              </a:rPr>
              <a:t>, Max Neal, Joy An, Trinity Dysis, Adeline Wong</a:t>
            </a:r>
            <a:br>
              <a:rPr lang="en" sz="1700">
                <a:solidFill>
                  <a:schemeClr val="dk1"/>
                </a:solidFill>
              </a:rPr>
            </a:br>
            <a:r>
              <a:rPr lang="en" sz="1700">
                <a:solidFill>
                  <a:schemeClr val="dk1"/>
                </a:solidFill>
              </a:rPr>
              <a:t>🍀 Manasvi Goyal, Emily Jia, Achraf Zemzami, Nabiha Vahora</a:t>
            </a:r>
            <a:br>
              <a:rPr lang="en" sz="1700">
                <a:solidFill>
                  <a:schemeClr val="dk1"/>
                </a:solidFill>
              </a:rPr>
            </a:br>
            <a:endParaRPr sz="1700">
              <a:solidFill>
                <a:schemeClr val="dk1"/>
              </a:solidFill>
            </a:endParaRPr>
          </a:p>
        </p:txBody>
      </p:sp>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CS50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7"/>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8"/>
          <p:cNvPicPr preferRelativeResize="0"/>
          <p:nvPr/>
        </p:nvPicPr>
        <p:blipFill>
          <a:blip r:embed="rId3">
            <a:alphaModFix/>
          </a:blip>
          <a:stretch>
            <a:fillRect/>
          </a:stretch>
        </p:blipFill>
        <p:spPr>
          <a:xfrm>
            <a:off x="690825" y="0"/>
            <a:ext cx="7762352"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9"/>
          <p:cNvPicPr preferRelativeResize="0"/>
          <p:nvPr/>
        </p:nvPicPr>
        <p:blipFill>
          <a:blip r:embed="rId3">
            <a:alphaModFix/>
          </a:blip>
          <a:stretch>
            <a:fillRect/>
          </a:stretch>
        </p:blipFill>
        <p:spPr>
          <a:xfrm>
            <a:off x="3429000" y="1720213"/>
            <a:ext cx="2286000" cy="17030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0"/>
          <p:cNvSpPr txBox="1"/>
          <p:nvPr>
            <p:ph idx="1" type="body"/>
          </p:nvPr>
        </p:nvSpPr>
        <p:spPr>
          <a:xfrm>
            <a:off x="2608950" y="1456200"/>
            <a:ext cx="3926100" cy="2231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DB408"/>
                </a:solidFill>
                <a:latin typeface="Consolas"/>
                <a:ea typeface="Consolas"/>
                <a:cs typeface="Consolas"/>
                <a:sym typeface="Consolas"/>
              </a:rPr>
              <a:t>#include &lt;stdio.h&gt;</a:t>
            </a:r>
            <a:endParaRPr>
              <a:solidFill>
                <a:srgbClr val="FDB408"/>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DB408"/>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DB408"/>
                </a:solidFill>
                <a:latin typeface="Consolas"/>
                <a:ea typeface="Consolas"/>
                <a:cs typeface="Consolas"/>
                <a:sym typeface="Consolas"/>
              </a:rPr>
              <a:t>int main(void)</a:t>
            </a:r>
            <a:br>
              <a:rPr lang="en">
                <a:solidFill>
                  <a:srgbClr val="FDB408"/>
                </a:solidFill>
                <a:latin typeface="Consolas"/>
                <a:ea typeface="Consolas"/>
                <a:cs typeface="Consolas"/>
                <a:sym typeface="Consolas"/>
              </a:rPr>
            </a:b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rgbClr val="8648FE"/>
                </a:solidFill>
                <a:latin typeface="Consolas"/>
                <a:ea typeface="Consolas"/>
                <a:cs typeface="Consolas"/>
                <a:sym typeface="Consolas"/>
              </a:rPr>
              <a:t>printf(</a:t>
            </a:r>
            <a:r>
              <a:rPr lang="en">
                <a:solidFill>
                  <a:srgbClr val="FFFFFF"/>
                </a:solidFill>
                <a:latin typeface="Consolas"/>
                <a:ea typeface="Consolas"/>
                <a:cs typeface="Consolas"/>
                <a:sym typeface="Consolas"/>
              </a:rPr>
              <a:t>"hello, world\n"</a:t>
            </a:r>
            <a:r>
              <a:rPr lang="en">
                <a:solidFill>
                  <a:srgbClr val="8648FE"/>
                </a:solidFill>
                <a:latin typeface="Consolas"/>
                <a:ea typeface="Consolas"/>
                <a:cs typeface="Consolas"/>
                <a:sym typeface="Consolas"/>
              </a:rPr>
              <a:t>);</a:t>
            </a:r>
            <a:endParaRPr>
              <a:solidFill>
                <a:srgbClr val="8648FE"/>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1"/>
          <p:cNvSpPr txBox="1"/>
          <p:nvPr>
            <p:ph idx="1" type="body"/>
          </p:nvPr>
        </p:nvSpPr>
        <p:spPr>
          <a:xfrm>
            <a:off x="2608950" y="1456200"/>
            <a:ext cx="3926100" cy="2231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    printf("hello, world\n");</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source code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3"/>
          <p:cNvSpPr txBox="1"/>
          <p:nvPr/>
        </p:nvSpPr>
        <p:spPr>
          <a:xfrm>
            <a:off x="0" y="1072350"/>
            <a:ext cx="9144000" cy="299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01111111 01000101 01001100 01000110 00000010 00000001 00000001 00000000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00000010 00000000 00111110 00000000 00000001 00000000 00000000 00000000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10110000 00000101 01000000 00000000 00000000 00000000 00000000 00000000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11010000 00010011 00000000 00000000 00000000 00000000 00000000 00000000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00000000 00000000 00000000 00000000 01000000 00000000 00111000 00000000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00001001 00000000 01000000 00000000 00100100 00000000 00100001 00000000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00000110 00000000 00000000 00000000 00000101 00000000 00000000 00000000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11111000 00000001 00000000 00000000 00000000 00000000 00000000 00000000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11111000 00000001 00000000 00000000 00000000 00000000 00000000 00000000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00001000 00000000 00000000 00000000 00000000 00000000 00000000 00000000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00000011 00000000 00000000 00000000 00000100 00000000 00000000 00000000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00111000 00000010 00000000 00000000 00000000 00000000 00000000 00000000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machine</a:t>
            </a:r>
            <a:r>
              <a:rPr lang="en"/>
              <a:t> code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5"/>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5"/>
          <p:cNvSpPr txBox="1"/>
          <p:nvPr/>
        </p:nvSpPr>
        <p:spPr>
          <a:xfrm>
            <a:off x="1283157" y="2195550"/>
            <a:ext cx="19263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input →  </a:t>
            </a:r>
            <a:endParaRPr sz="3600">
              <a:solidFill>
                <a:srgbClr val="FFFFFF"/>
              </a:solidFill>
            </a:endParaRPr>
          </a:p>
        </p:txBody>
      </p:sp>
      <p:sp>
        <p:nvSpPr>
          <p:cNvPr id="152" name="Google Shape;152;p35"/>
          <p:cNvSpPr txBox="1"/>
          <p:nvPr/>
        </p:nvSpPr>
        <p:spPr>
          <a:xfrm>
            <a:off x="5886057" y="2195550"/>
            <a:ext cx="222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6"/>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7"/>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7"/>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8"/>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8"/>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
        <p:nvSpPr>
          <p:cNvPr id="170" name="Google Shape;170;p38"/>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machine code</a:t>
            </a:r>
            <a:endParaRPr sz="29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9"/>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9"/>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
        <p:nvSpPr>
          <p:cNvPr id="177" name="Google Shape;177;p39"/>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machine code</a:t>
            </a:r>
            <a:endParaRPr sz="2900">
              <a:solidFill>
                <a:srgbClr val="FFFFFF"/>
              </a:solidFill>
            </a:endParaRPr>
          </a:p>
        </p:txBody>
      </p:sp>
      <p:sp>
        <p:nvSpPr>
          <p:cNvPr id="178" name="Google Shape;178;p3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compiler</a:t>
            </a:r>
            <a:endParaRPr sz="2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100"/>
              <a:t>Visual Studio Code for CS50</a:t>
            </a:r>
            <a:endParaRPr sz="5100"/>
          </a:p>
        </p:txBody>
      </p:sp>
      <p:sp>
        <p:nvSpPr>
          <p:cNvPr id="184" name="Google Shape;184;p4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uFill>
                  <a:noFill/>
                </a:uFill>
                <a:hlinkClick r:id="rId3">
                  <a:extLst>
                    <a:ext uri="{A12FA001-AC4F-418D-AE19-62706E023703}">
                      <ahyp:hlinkClr val="tx"/>
                    </a:ext>
                  </a:extLst>
                </a:hlinkClick>
              </a:rPr>
              <a:t>cs50.dev</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41"/>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42"/>
          <p:cNvPicPr preferRelativeResize="0"/>
          <p:nvPr/>
        </p:nvPicPr>
        <p:blipFill>
          <a:blip r:embed="rId3">
            <a:alphaModFix/>
          </a:blip>
          <a:stretch>
            <a:fillRect/>
          </a:stretch>
        </p:blipFill>
        <p:spPr>
          <a:xfrm>
            <a:off x="0" y="0"/>
            <a:ext cx="9143990" cy="5143500"/>
          </a:xfrm>
          <a:prstGeom prst="rect">
            <a:avLst/>
          </a:prstGeom>
          <a:noFill/>
          <a:ln>
            <a:noFill/>
          </a:ln>
        </p:spPr>
      </p:pic>
      <p:sp>
        <p:nvSpPr>
          <p:cNvPr id="195" name="Google Shape;195;p42"/>
          <p:cNvSpPr/>
          <p:nvPr/>
        </p:nvSpPr>
        <p:spPr>
          <a:xfrm>
            <a:off x="0" y="0"/>
            <a:ext cx="25407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2"/>
          <p:cNvSpPr/>
          <p:nvPr/>
        </p:nvSpPr>
        <p:spPr>
          <a:xfrm>
            <a:off x="2540700" y="2758100"/>
            <a:ext cx="6603300" cy="23853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43"/>
          <p:cNvPicPr preferRelativeResize="0"/>
          <p:nvPr/>
        </p:nvPicPr>
        <p:blipFill>
          <a:blip r:embed="rId3">
            <a:alphaModFix/>
          </a:blip>
          <a:stretch>
            <a:fillRect/>
          </a:stretch>
        </p:blipFill>
        <p:spPr>
          <a:xfrm>
            <a:off x="0" y="0"/>
            <a:ext cx="9143990" cy="5143500"/>
          </a:xfrm>
          <a:prstGeom prst="rect">
            <a:avLst/>
          </a:prstGeom>
          <a:noFill/>
          <a:ln>
            <a:noFill/>
          </a:ln>
        </p:spPr>
      </p:pic>
      <p:sp>
        <p:nvSpPr>
          <p:cNvPr id="202" name="Google Shape;202;p43"/>
          <p:cNvSpPr/>
          <p:nvPr/>
        </p:nvSpPr>
        <p:spPr>
          <a:xfrm>
            <a:off x="0" y="0"/>
            <a:ext cx="25407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3"/>
          <p:cNvSpPr/>
          <p:nvPr/>
        </p:nvSpPr>
        <p:spPr>
          <a:xfrm>
            <a:off x="2540700" y="14909"/>
            <a:ext cx="6603300" cy="27282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44"/>
          <p:cNvPicPr preferRelativeResize="0"/>
          <p:nvPr/>
        </p:nvPicPr>
        <p:blipFill>
          <a:blip r:embed="rId3">
            <a:alphaModFix/>
          </a:blip>
          <a:stretch>
            <a:fillRect/>
          </a:stretch>
        </p:blipFill>
        <p:spPr>
          <a:xfrm>
            <a:off x="0" y="0"/>
            <a:ext cx="9143990" cy="5143500"/>
          </a:xfrm>
          <a:prstGeom prst="rect">
            <a:avLst/>
          </a:prstGeom>
          <a:noFill/>
          <a:ln>
            <a:noFill/>
          </a:ln>
        </p:spPr>
      </p:pic>
      <p:sp>
        <p:nvSpPr>
          <p:cNvPr id="209" name="Google Shape;209;p44"/>
          <p:cNvSpPr/>
          <p:nvPr/>
        </p:nvSpPr>
        <p:spPr>
          <a:xfrm>
            <a:off x="2555609" y="-100"/>
            <a:ext cx="66033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4"/>
          <p:cNvSpPr/>
          <p:nvPr/>
        </p:nvSpPr>
        <p:spPr>
          <a:xfrm>
            <a:off x="-6" y="0"/>
            <a:ext cx="5517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45"/>
          <p:cNvPicPr preferRelativeResize="0"/>
          <p:nvPr/>
        </p:nvPicPr>
        <p:blipFill>
          <a:blip r:embed="rId3">
            <a:alphaModFix/>
          </a:blip>
          <a:stretch>
            <a:fillRect/>
          </a:stretch>
        </p:blipFill>
        <p:spPr>
          <a:xfrm>
            <a:off x="0" y="0"/>
            <a:ext cx="9143990" cy="5143500"/>
          </a:xfrm>
          <a:prstGeom prst="rect">
            <a:avLst/>
          </a:prstGeom>
          <a:noFill/>
          <a:ln>
            <a:noFill/>
          </a:ln>
        </p:spPr>
      </p:pic>
      <p:sp>
        <p:nvSpPr>
          <p:cNvPr id="216" name="Google Shape;216;p45"/>
          <p:cNvSpPr/>
          <p:nvPr/>
        </p:nvSpPr>
        <p:spPr>
          <a:xfrm>
            <a:off x="566522" y="-100"/>
            <a:ext cx="85923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46"/>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graphical user interface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GUI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49"/>
          <p:cNvPicPr preferRelativeResize="0"/>
          <p:nvPr/>
        </p:nvPicPr>
        <p:blipFill>
          <a:blip r:embed="rId3">
            <a:alphaModFix/>
          </a:blip>
          <a:stretch>
            <a:fillRect/>
          </a:stretch>
        </p:blipFill>
        <p:spPr>
          <a:xfrm>
            <a:off x="0" y="0"/>
            <a:ext cx="9143990" cy="5143500"/>
          </a:xfrm>
          <a:prstGeom prst="rect">
            <a:avLst/>
          </a:prstGeom>
          <a:noFill/>
          <a:ln>
            <a:noFill/>
          </a:ln>
        </p:spPr>
      </p:pic>
      <p:sp>
        <p:nvSpPr>
          <p:cNvPr id="237" name="Google Shape;237;p49"/>
          <p:cNvSpPr/>
          <p:nvPr/>
        </p:nvSpPr>
        <p:spPr>
          <a:xfrm>
            <a:off x="0" y="0"/>
            <a:ext cx="2540700" cy="51435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9"/>
          <p:cNvSpPr/>
          <p:nvPr/>
        </p:nvSpPr>
        <p:spPr>
          <a:xfrm>
            <a:off x="2540700" y="14909"/>
            <a:ext cx="6603300" cy="2728200"/>
          </a:xfrm>
          <a:prstGeom prst="rect">
            <a:avLst/>
          </a:prstGeom>
          <a:solidFill>
            <a:srgbClr val="000000">
              <a:alpha val="7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command-line interface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5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CLI</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52"/>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53"/>
          <p:cNvSpPr txBox="1"/>
          <p:nvPr>
            <p:ph idx="1" type="body"/>
          </p:nvPr>
        </p:nvSpPr>
        <p:spPr>
          <a:xfrm>
            <a:off x="2608950" y="1456200"/>
            <a:ext cx="3926100" cy="2231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    printf("hello, world\n");</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4"/>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code hello.c</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make hello</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./hello</a:t>
            </a:r>
            <a:endParaRPr>
              <a:solidFill>
                <a:srgbClr val="FFFFFF"/>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55"/>
          <p:cNvPicPr preferRelativeResize="0"/>
          <p:nvPr/>
        </p:nvPicPr>
        <p:blipFill>
          <a:blip r:embed="rId3">
            <a:alphaModFix/>
          </a:blip>
          <a:stretch>
            <a:fillRect/>
          </a:stretch>
        </p:blipFill>
        <p:spPr>
          <a:xfrm>
            <a:off x="3429000" y="1720213"/>
            <a:ext cx="2286000" cy="170307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p56"/>
          <p:cNvSpPr txBox="1"/>
          <p:nvPr>
            <p:ph idx="1" type="body"/>
          </p:nvPr>
        </p:nvSpPr>
        <p:spPr>
          <a:xfrm>
            <a:off x="2608950" y="1456200"/>
            <a:ext cx="3926100" cy="2231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int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    printf("hello, world\n");</a:t>
            </a:r>
            <a:endParaRPr>
              <a:solidFill>
                <a:schemeClr val="dk1"/>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57"/>
          <p:cNvSpPr txBox="1"/>
          <p:nvPr>
            <p:ph idx="1" type="body"/>
          </p:nvPr>
        </p:nvSpPr>
        <p:spPr>
          <a:xfrm>
            <a:off x="2608950" y="1456200"/>
            <a:ext cx="3926100" cy="2231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rgbClr val="FDB408"/>
                </a:solidFill>
                <a:latin typeface="Consolas"/>
                <a:ea typeface="Consolas"/>
                <a:cs typeface="Consolas"/>
                <a:sym typeface="Consolas"/>
              </a:rPr>
              <a:t>#include &lt;stdio.h&gt;</a:t>
            </a:r>
            <a:endParaRPr>
              <a:solidFill>
                <a:srgbClr val="FDB408"/>
              </a:solidFill>
              <a:latin typeface="Consolas"/>
              <a:ea typeface="Consolas"/>
              <a:cs typeface="Consolas"/>
              <a:sym typeface="Consolas"/>
            </a:endParaRPr>
          </a:p>
          <a:p>
            <a:pPr indent="0" lvl="0" marL="0" rtl="0" algn="l">
              <a:lnSpc>
                <a:spcPct val="100000"/>
              </a:lnSpc>
              <a:spcBef>
                <a:spcPts val="0"/>
              </a:spcBef>
              <a:spcAft>
                <a:spcPts val="0"/>
              </a:spcAft>
              <a:buNone/>
            </a:pPr>
            <a:r>
              <a:t/>
            </a:r>
            <a:endParaRPr>
              <a:solidFill>
                <a:srgbClr val="FDB408"/>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DB408"/>
                </a:solidFill>
                <a:latin typeface="Consolas"/>
                <a:ea typeface="Consolas"/>
                <a:cs typeface="Consolas"/>
                <a:sym typeface="Consolas"/>
              </a:rPr>
              <a:t>int main(void)</a:t>
            </a:r>
            <a:br>
              <a:rPr lang="en">
                <a:solidFill>
                  <a:srgbClr val="FDB408"/>
                </a:solidFill>
                <a:latin typeface="Consolas"/>
                <a:ea typeface="Consolas"/>
                <a:cs typeface="Consolas"/>
                <a:sym typeface="Consolas"/>
              </a:rPr>
            </a:b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rgbClr val="8648FE"/>
                </a:solidFill>
                <a:latin typeface="Consolas"/>
                <a:ea typeface="Consolas"/>
                <a:cs typeface="Consolas"/>
                <a:sym typeface="Consolas"/>
              </a:rPr>
              <a:t>printf(</a:t>
            </a:r>
            <a:r>
              <a:rPr lang="en">
                <a:solidFill>
                  <a:srgbClr val="FFFFFF"/>
                </a:solidFill>
                <a:latin typeface="Consolas"/>
                <a:ea typeface="Consolas"/>
                <a:cs typeface="Consolas"/>
                <a:sym typeface="Consolas"/>
              </a:rPr>
              <a:t>"hello, world\n"</a:t>
            </a:r>
            <a:r>
              <a:rPr lang="en">
                <a:solidFill>
                  <a:srgbClr val="8648FE"/>
                </a:solidFill>
                <a:latin typeface="Consolas"/>
                <a:ea typeface="Consolas"/>
                <a:cs typeface="Consolas"/>
                <a:sym typeface="Consolas"/>
              </a:rPr>
              <a:t>);</a:t>
            </a:r>
            <a:endParaRPr>
              <a:solidFill>
                <a:srgbClr val="8648FE"/>
              </a:solidFill>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282" name="Shape 282"/>
        <p:cNvGrpSpPr/>
        <p:nvPr/>
      </p:nvGrpSpPr>
      <p:grpSpPr>
        <a:xfrm>
          <a:off x="0" y="0"/>
          <a:ext cx="0" cy="0"/>
          <a:chOff x="0" y="0"/>
          <a:chExt cx="0" cy="0"/>
        </a:xfrm>
      </p:grpSpPr>
      <p:sp>
        <p:nvSpPr>
          <p:cNvPr id="283" name="Google Shape;283;p58"/>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8"/>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8"/>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onsolas"/>
                <a:ea typeface="Consolas"/>
                <a:cs typeface="Consolas"/>
                <a:sym typeface="Consolas"/>
              </a:rPr>
              <a:t>printf("hello, world\n");</a:t>
            </a:r>
            <a:endParaRPr sz="1800">
              <a:latin typeface="Consolas"/>
              <a:ea typeface="Consolas"/>
              <a:cs typeface="Consolas"/>
              <a:sym typeface="Consolas"/>
            </a:endParaRPr>
          </a:p>
        </p:txBody>
      </p:sp>
      <p:pic>
        <p:nvPicPr>
          <p:cNvPr id="286" name="Google Shape;286;p58"/>
          <p:cNvPicPr preferRelativeResize="0"/>
          <p:nvPr/>
        </p:nvPicPr>
        <p:blipFill>
          <a:blip r:embed="rId3">
            <a:alphaModFix/>
          </a:blip>
          <a:stretch>
            <a:fillRect/>
          </a:stretch>
        </p:blipFill>
        <p:spPr>
          <a:xfrm>
            <a:off x="914400" y="2247463"/>
            <a:ext cx="1828800" cy="64858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290" name="Shape 290"/>
        <p:cNvGrpSpPr/>
        <p:nvPr/>
      </p:nvGrpSpPr>
      <p:grpSpPr>
        <a:xfrm>
          <a:off x="0" y="0"/>
          <a:ext cx="0" cy="0"/>
          <a:chOff x="0" y="0"/>
          <a:chExt cx="0" cy="0"/>
        </a:xfrm>
      </p:grpSpPr>
      <p:sp>
        <p:nvSpPr>
          <p:cNvPr id="291" name="Google Shape;291;p59"/>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9"/>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9"/>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print</a:t>
            </a:r>
            <a:r>
              <a:rPr lang="en" sz="1800">
                <a:latin typeface="Consolas"/>
                <a:ea typeface="Consolas"/>
                <a:cs typeface="Consolas"/>
                <a:sym typeface="Consolas"/>
              </a:rPr>
              <a:t>f</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"hello, world\n"</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294" name="Google Shape;294;p59"/>
          <p:cNvPicPr preferRelativeResize="0"/>
          <p:nvPr/>
        </p:nvPicPr>
        <p:blipFill>
          <a:blip r:embed="rId3">
            <a:alphaModFix/>
          </a:blip>
          <a:stretch>
            <a:fillRect/>
          </a:stretch>
        </p:blipFill>
        <p:spPr>
          <a:xfrm>
            <a:off x="914400" y="2247463"/>
            <a:ext cx="1828800" cy="64858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298" name="Shape 298"/>
        <p:cNvGrpSpPr/>
        <p:nvPr/>
      </p:nvGrpSpPr>
      <p:grpSpPr>
        <a:xfrm>
          <a:off x="0" y="0"/>
          <a:ext cx="0" cy="0"/>
          <a:chOff x="0" y="0"/>
          <a:chExt cx="0" cy="0"/>
        </a:xfrm>
      </p:grpSpPr>
      <p:sp>
        <p:nvSpPr>
          <p:cNvPr id="299" name="Google Shape;299;p6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0"/>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printf(</a:t>
            </a:r>
            <a:r>
              <a:rPr lang="en" sz="1800">
                <a:latin typeface="Consolas"/>
                <a:ea typeface="Consolas"/>
                <a:cs typeface="Consolas"/>
                <a:sym typeface="Consolas"/>
              </a:rPr>
              <a:t>"hello, world\n"</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302" name="Google Shape;302;p60"/>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06" name="Shape 306"/>
        <p:cNvGrpSpPr/>
        <p:nvPr/>
      </p:nvGrpSpPr>
      <p:grpSpPr>
        <a:xfrm>
          <a:off x="0" y="0"/>
          <a:ext cx="0" cy="0"/>
          <a:chOff x="0" y="0"/>
          <a:chExt cx="0" cy="0"/>
        </a:xfrm>
      </p:grpSpPr>
      <p:sp>
        <p:nvSpPr>
          <p:cNvPr id="307" name="Google Shape;307;p61"/>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1"/>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1"/>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printf(</a:t>
            </a:r>
            <a:r>
              <a:rPr lang="en" sz="1800">
                <a:latin typeface="Consolas"/>
                <a:ea typeface="Consolas"/>
                <a:cs typeface="Consolas"/>
                <a:sym typeface="Consolas"/>
              </a:rPr>
              <a:t>"</a:t>
            </a:r>
            <a:r>
              <a:rPr lang="en" sz="1800">
                <a:solidFill>
                  <a:srgbClr val="FFFFFF"/>
                </a:solidFill>
                <a:latin typeface="Consolas"/>
                <a:ea typeface="Consolas"/>
                <a:cs typeface="Consolas"/>
                <a:sym typeface="Consolas"/>
              </a:rPr>
              <a:t>hello, world</a:t>
            </a:r>
            <a:r>
              <a:rPr lang="en" sz="1800">
                <a:latin typeface="Consolas"/>
                <a:ea typeface="Consolas"/>
                <a:cs typeface="Consolas"/>
                <a:sym typeface="Consolas"/>
              </a:rPr>
              <a:t>\n"</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310" name="Google Shape;310;p61"/>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14" name="Shape 314"/>
        <p:cNvGrpSpPr/>
        <p:nvPr/>
      </p:nvGrpSpPr>
      <p:grpSpPr>
        <a:xfrm>
          <a:off x="0" y="0"/>
          <a:ext cx="0" cy="0"/>
          <a:chOff x="0" y="0"/>
          <a:chExt cx="0" cy="0"/>
        </a:xfrm>
      </p:grpSpPr>
      <p:sp>
        <p:nvSpPr>
          <p:cNvPr id="315" name="Google Shape;315;p62"/>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62"/>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2"/>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printf(</a:t>
            </a:r>
            <a:r>
              <a:rPr lang="en" sz="1800">
                <a:solidFill>
                  <a:srgbClr val="FFFFFF"/>
                </a:solidFill>
                <a:latin typeface="Consolas"/>
                <a:ea typeface="Consolas"/>
                <a:cs typeface="Consolas"/>
                <a:sym typeface="Consolas"/>
              </a:rPr>
              <a:t>"</a:t>
            </a:r>
            <a:r>
              <a:rPr lang="en" sz="1800">
                <a:solidFill>
                  <a:schemeClr val="dk1"/>
                </a:solidFill>
                <a:latin typeface="Consolas"/>
                <a:ea typeface="Consolas"/>
                <a:cs typeface="Consolas"/>
                <a:sym typeface="Consolas"/>
              </a:rPr>
              <a:t>hello, world</a:t>
            </a:r>
            <a:r>
              <a:rPr lang="en" sz="1800">
                <a:latin typeface="Consolas"/>
                <a:ea typeface="Consolas"/>
                <a:cs typeface="Consolas"/>
                <a:sym typeface="Consolas"/>
              </a:rPr>
              <a:t>\n</a:t>
            </a:r>
            <a:r>
              <a:rPr lang="en" sz="1800">
                <a:solidFill>
                  <a:srgbClr val="FFFFFF"/>
                </a:solidFill>
                <a:latin typeface="Consolas"/>
                <a:ea typeface="Consolas"/>
                <a:cs typeface="Consolas"/>
                <a:sym typeface="Consolas"/>
              </a:rPr>
              <a:t>"</a:t>
            </a:r>
            <a:r>
              <a:rPr lang="en" sz="1800">
                <a:solidFill>
                  <a:schemeClr val="dk1"/>
                </a:solidFill>
                <a:latin typeface="Consolas"/>
                <a:ea typeface="Consolas"/>
                <a:cs typeface="Consolas"/>
                <a:sym typeface="Consolas"/>
              </a:rPr>
              <a:t>)</a:t>
            </a:r>
            <a:r>
              <a:rPr lang="en" sz="1800">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318" name="Google Shape;318;p62"/>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22" name="Shape 322"/>
        <p:cNvGrpSpPr/>
        <p:nvPr/>
      </p:nvGrpSpPr>
      <p:grpSpPr>
        <a:xfrm>
          <a:off x="0" y="0"/>
          <a:ext cx="0" cy="0"/>
          <a:chOff x="0" y="0"/>
          <a:chExt cx="0" cy="0"/>
        </a:xfrm>
      </p:grpSpPr>
      <p:sp>
        <p:nvSpPr>
          <p:cNvPr id="323" name="Google Shape;323;p63"/>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3"/>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3"/>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printf("hello, world\n")</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326" name="Google Shape;326;p63"/>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30" name="Shape 330"/>
        <p:cNvGrpSpPr/>
        <p:nvPr/>
      </p:nvGrpSpPr>
      <p:grpSpPr>
        <a:xfrm>
          <a:off x="0" y="0"/>
          <a:ext cx="0" cy="0"/>
          <a:chOff x="0" y="0"/>
          <a:chExt cx="0" cy="0"/>
        </a:xfrm>
      </p:grpSpPr>
      <p:sp>
        <p:nvSpPr>
          <p:cNvPr id="331" name="Google Shape;331;p64"/>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4"/>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64"/>
          <p:cNvSpPr txBox="1"/>
          <p:nvPr/>
        </p:nvSpPr>
        <p:spPr>
          <a:xfrm>
            <a:off x="4724100" y="1959300"/>
            <a:ext cx="33534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printf("hello, world\n");</a:t>
            </a:r>
            <a:endParaRPr sz="1800">
              <a:solidFill>
                <a:srgbClr val="FFFFFF"/>
              </a:solidFill>
              <a:latin typeface="Consolas"/>
              <a:ea typeface="Consolas"/>
              <a:cs typeface="Consolas"/>
              <a:sym typeface="Consolas"/>
            </a:endParaRPr>
          </a:p>
        </p:txBody>
      </p:sp>
      <p:pic>
        <p:nvPicPr>
          <p:cNvPr id="334" name="Google Shape;334;p64"/>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65"/>
          <p:cNvPicPr preferRelativeResize="0"/>
          <p:nvPr/>
        </p:nvPicPr>
        <p:blipFill>
          <a:blip r:embed="rId3">
            <a:alphaModFix/>
          </a:blip>
          <a:stretch>
            <a:fillRect/>
          </a:stretch>
        </p:blipFill>
        <p:spPr>
          <a:xfrm>
            <a:off x="4071938" y="2286000"/>
            <a:ext cx="1000125" cy="571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6"/>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66"/>
          <p:cNvSpPr txBox="1"/>
          <p:nvPr/>
        </p:nvSpPr>
        <p:spPr>
          <a:xfrm>
            <a:off x="1283157" y="2195550"/>
            <a:ext cx="19263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input →  </a:t>
            </a:r>
            <a:endParaRPr sz="3600">
              <a:solidFill>
                <a:srgbClr val="FFFFFF"/>
              </a:solidFill>
            </a:endParaRPr>
          </a:p>
        </p:txBody>
      </p:sp>
      <p:sp>
        <p:nvSpPr>
          <p:cNvPr id="346" name="Google Shape;346;p66"/>
          <p:cNvSpPr txBox="1"/>
          <p:nvPr/>
        </p:nvSpPr>
        <p:spPr>
          <a:xfrm>
            <a:off x="5886057" y="2195550"/>
            <a:ext cx="222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7"/>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6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function</a:t>
            </a:r>
            <a:endParaRPr sz="2900"/>
          </a:p>
        </p:txBody>
      </p:sp>
      <p:sp>
        <p:nvSpPr>
          <p:cNvPr id="353" name="Google Shape;353;p67"/>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354" name="Google Shape;354;p67"/>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side effects</a:t>
            </a:r>
            <a:endParaRPr sz="2900">
              <a:solidFill>
                <a:srgbClr val="FFFF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8"/>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8"/>
          <p:cNvSpPr txBox="1"/>
          <p:nvPr/>
        </p:nvSpPr>
        <p:spPr>
          <a:xfrm>
            <a:off x="1283157" y="2195550"/>
            <a:ext cx="19263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  </a:t>
            </a:r>
            <a:endParaRPr sz="3600">
              <a:solidFill>
                <a:srgbClr val="FFFFFF"/>
              </a:solidFill>
            </a:endParaRPr>
          </a:p>
        </p:txBody>
      </p:sp>
      <p:sp>
        <p:nvSpPr>
          <p:cNvPr id="361" name="Google Shape;361;p68"/>
          <p:cNvSpPr txBox="1"/>
          <p:nvPr/>
        </p:nvSpPr>
        <p:spPr>
          <a:xfrm>
            <a:off x="5886057" y="2195550"/>
            <a:ext cx="222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endParaRPr sz="3600">
              <a:solidFill>
                <a:srgbClr val="FFFFFF"/>
              </a:solidFill>
            </a:endParaRPr>
          </a:p>
        </p:txBody>
      </p:sp>
      <p:pic>
        <p:nvPicPr>
          <p:cNvPr id="362" name="Google Shape;362;p68"/>
          <p:cNvPicPr preferRelativeResize="0"/>
          <p:nvPr/>
        </p:nvPicPr>
        <p:blipFill>
          <a:blip r:embed="rId3">
            <a:alphaModFix/>
          </a:blip>
          <a:stretch>
            <a:fillRect/>
          </a:stretch>
        </p:blipFill>
        <p:spPr>
          <a:xfrm>
            <a:off x="3813104" y="2060137"/>
            <a:ext cx="1517800" cy="1023225"/>
          </a:xfrm>
          <a:prstGeom prst="rect">
            <a:avLst/>
          </a:prstGeom>
          <a:noFill/>
          <a:ln>
            <a:noFill/>
          </a:ln>
        </p:spPr>
      </p:pic>
      <p:pic>
        <p:nvPicPr>
          <p:cNvPr id="363" name="Google Shape;363;p68"/>
          <p:cNvPicPr preferRelativeResize="0"/>
          <p:nvPr/>
        </p:nvPicPr>
        <p:blipFill>
          <a:blip r:embed="rId4">
            <a:alphaModFix/>
          </a:blip>
          <a:stretch>
            <a:fillRect/>
          </a:stretch>
        </p:blipFill>
        <p:spPr>
          <a:xfrm>
            <a:off x="6921582" y="1626375"/>
            <a:ext cx="1870529" cy="1890750"/>
          </a:xfrm>
          <a:prstGeom prst="rect">
            <a:avLst/>
          </a:prstGeom>
          <a:noFill/>
          <a:ln>
            <a:noFill/>
          </a:ln>
        </p:spPr>
      </p:pic>
      <p:pic>
        <p:nvPicPr>
          <p:cNvPr id="364" name="Google Shape;364;p68"/>
          <p:cNvPicPr preferRelativeResize="0"/>
          <p:nvPr/>
        </p:nvPicPr>
        <p:blipFill>
          <a:blip r:embed="rId5">
            <a:alphaModFix/>
          </a:blip>
          <a:stretch>
            <a:fillRect/>
          </a:stretch>
        </p:blipFill>
        <p:spPr>
          <a:xfrm>
            <a:off x="1224925" y="2391626"/>
            <a:ext cx="1088050" cy="4184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escape sequences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\n</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\r</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header files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libraries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stdio.h</a:t>
            </a:r>
            <a:endParaRPr>
              <a:latin typeface="Consolas"/>
              <a:ea typeface="Consolas"/>
              <a:cs typeface="Consolas"/>
              <a:sym typeface="Consola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7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Manual Pages</a:t>
            </a:r>
            <a:endParaRPr/>
          </a:p>
        </p:txBody>
      </p:sp>
      <p:sp>
        <p:nvSpPr>
          <p:cNvPr id="395" name="Google Shape;395;p7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uFill>
                  <a:noFill/>
                </a:uFill>
                <a:hlinkClick r:id="rId3">
                  <a:extLst>
                    <a:ext uri="{A12FA001-AC4F-418D-AE19-62706E023703}">
                      <ahyp:hlinkClr val="tx"/>
                    </a:ext>
                  </a:extLst>
                </a:hlinkClick>
              </a:rPr>
              <a:t>manual.cs50.io</a:t>
            </a:r>
            <a:endParaRPr>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7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uFill>
                  <a:noFill/>
                </a:uFill>
                <a:hlinkClick r:id="rId3"/>
              </a:rPr>
              <a:t>manual.cs50.io/#stdio.h</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7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uFill>
                  <a:noFill/>
                </a:uFill>
                <a:hlinkClick r:id="rId3"/>
              </a:rPr>
              <a:t>manual.cs50.io/3/printf</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7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cs50.h</a:t>
            </a:r>
            <a:endParaRPr>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7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uFill>
                  <a:noFill/>
                </a:uFill>
                <a:hlinkClick r:id="rId3"/>
              </a:rPr>
              <a:t>manual.cs50.io/#cs50.h</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8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000000"/>
                </a:solidFill>
                <a:highlight>
                  <a:schemeClr val="dk1"/>
                </a:highlight>
                <a:latin typeface="Consolas"/>
                <a:ea typeface="Consolas"/>
                <a:cs typeface="Consolas"/>
                <a:sym typeface="Consolas"/>
              </a:rPr>
              <a:t>get_string</a:t>
            </a:r>
            <a:endParaRPr>
              <a:solidFill>
                <a:srgbClr val="000000"/>
              </a:solidFill>
              <a:highlight>
                <a:schemeClr val="dk1"/>
              </a:highlight>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81"/>
          <p:cNvPicPr preferRelativeResize="0"/>
          <p:nvPr/>
        </p:nvPicPr>
        <p:blipFill>
          <a:blip r:embed="rId3">
            <a:alphaModFix/>
          </a:blip>
          <a:stretch>
            <a:fillRect/>
          </a:stretch>
        </p:blipFill>
        <p:spPr>
          <a:xfrm>
            <a:off x="2743200" y="1464013"/>
            <a:ext cx="3657600" cy="221546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82"/>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2"/>
          <p:cNvSpPr txBox="1"/>
          <p:nvPr/>
        </p:nvSpPr>
        <p:spPr>
          <a:xfrm>
            <a:off x="1283157" y="2195550"/>
            <a:ext cx="19263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input →  </a:t>
            </a:r>
            <a:endParaRPr sz="3600">
              <a:solidFill>
                <a:srgbClr val="FFFFFF"/>
              </a:solidFill>
            </a:endParaRPr>
          </a:p>
        </p:txBody>
      </p:sp>
      <p:sp>
        <p:nvSpPr>
          <p:cNvPr id="437" name="Google Shape;437;p82"/>
          <p:cNvSpPr txBox="1"/>
          <p:nvPr/>
        </p:nvSpPr>
        <p:spPr>
          <a:xfrm>
            <a:off x="5886057" y="2195550"/>
            <a:ext cx="222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83"/>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8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function</a:t>
            </a:r>
            <a:endParaRPr sz="2900"/>
          </a:p>
        </p:txBody>
      </p:sp>
      <p:sp>
        <p:nvSpPr>
          <p:cNvPr id="444" name="Google Shape;444;p83"/>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445" name="Google Shape;445;p83"/>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return value</a:t>
            </a:r>
            <a:endParaRPr sz="2900">
              <a:solidFill>
                <a:srgbClr val="FFFF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84"/>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84"/>
          <p:cNvSpPr txBox="1"/>
          <p:nvPr/>
        </p:nvSpPr>
        <p:spPr>
          <a:xfrm>
            <a:off x="1283157" y="2195550"/>
            <a:ext cx="19263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3600">
                <a:solidFill>
                  <a:srgbClr val="FFFFFF"/>
                </a:solidFill>
              </a:rPr>
              <a:t>→  </a:t>
            </a:r>
            <a:endParaRPr sz="3600">
              <a:solidFill>
                <a:srgbClr val="FFFFFF"/>
              </a:solidFill>
            </a:endParaRPr>
          </a:p>
        </p:txBody>
      </p:sp>
      <p:sp>
        <p:nvSpPr>
          <p:cNvPr id="452" name="Google Shape;452;p84"/>
          <p:cNvSpPr txBox="1"/>
          <p:nvPr/>
        </p:nvSpPr>
        <p:spPr>
          <a:xfrm>
            <a:off x="5886057" y="2195550"/>
            <a:ext cx="2220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endParaRPr sz="3600">
              <a:solidFill>
                <a:srgbClr val="FFFFFF"/>
              </a:solidFill>
            </a:endParaRPr>
          </a:p>
        </p:txBody>
      </p:sp>
      <p:pic>
        <p:nvPicPr>
          <p:cNvPr id="453" name="Google Shape;453;p84"/>
          <p:cNvPicPr preferRelativeResize="0"/>
          <p:nvPr/>
        </p:nvPicPr>
        <p:blipFill>
          <a:blip r:embed="rId3">
            <a:alphaModFix/>
          </a:blip>
          <a:stretch>
            <a:fillRect/>
          </a:stretch>
        </p:blipFill>
        <p:spPr>
          <a:xfrm>
            <a:off x="1030830" y="2390731"/>
            <a:ext cx="1402900" cy="400829"/>
          </a:xfrm>
          <a:prstGeom prst="rect">
            <a:avLst/>
          </a:prstGeom>
          <a:noFill/>
          <a:ln>
            <a:noFill/>
          </a:ln>
        </p:spPr>
      </p:pic>
      <p:pic>
        <p:nvPicPr>
          <p:cNvPr id="454" name="Google Shape;454;p84"/>
          <p:cNvPicPr preferRelativeResize="0"/>
          <p:nvPr/>
        </p:nvPicPr>
        <p:blipFill>
          <a:blip r:embed="rId4">
            <a:alphaModFix/>
          </a:blip>
          <a:stretch>
            <a:fillRect/>
          </a:stretch>
        </p:blipFill>
        <p:spPr>
          <a:xfrm>
            <a:off x="3474700" y="2156731"/>
            <a:ext cx="2194610" cy="927300"/>
          </a:xfrm>
          <a:prstGeom prst="rect">
            <a:avLst/>
          </a:prstGeom>
          <a:noFill/>
          <a:ln>
            <a:noFill/>
          </a:ln>
        </p:spPr>
      </p:pic>
      <p:pic>
        <p:nvPicPr>
          <p:cNvPr id="455" name="Google Shape;455;p84"/>
          <p:cNvPicPr preferRelativeResize="0"/>
          <p:nvPr/>
        </p:nvPicPr>
        <p:blipFill>
          <a:blip r:embed="rId5">
            <a:alphaModFix/>
          </a:blip>
          <a:stretch>
            <a:fillRect/>
          </a:stretch>
        </p:blipFill>
        <p:spPr>
          <a:xfrm>
            <a:off x="6747541" y="2390725"/>
            <a:ext cx="757116" cy="4008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459" name="Shape 459"/>
        <p:cNvGrpSpPr/>
        <p:nvPr/>
      </p:nvGrpSpPr>
      <p:grpSpPr>
        <a:xfrm>
          <a:off x="0" y="0"/>
          <a:ext cx="0" cy="0"/>
          <a:chOff x="0" y="0"/>
          <a:chExt cx="0" cy="0"/>
        </a:xfrm>
      </p:grpSpPr>
      <p:sp>
        <p:nvSpPr>
          <p:cNvPr id="460" name="Google Shape;460;p85"/>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85"/>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85"/>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onsolas"/>
              <a:ea typeface="Consolas"/>
              <a:cs typeface="Consolas"/>
              <a:sym typeface="Consolas"/>
            </a:endParaRPr>
          </a:p>
        </p:txBody>
      </p:sp>
      <p:pic>
        <p:nvPicPr>
          <p:cNvPr id="463" name="Google Shape;463;p85"/>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467" name="Shape 467"/>
        <p:cNvGrpSpPr/>
        <p:nvPr/>
      </p:nvGrpSpPr>
      <p:grpSpPr>
        <a:xfrm>
          <a:off x="0" y="0"/>
          <a:ext cx="0" cy="0"/>
          <a:chOff x="0" y="0"/>
          <a:chExt cx="0" cy="0"/>
        </a:xfrm>
      </p:grpSpPr>
      <p:sp>
        <p:nvSpPr>
          <p:cNvPr id="468" name="Google Shape;468;p86"/>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6"/>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86"/>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string answer = </a:t>
            </a:r>
            <a:r>
              <a:rPr lang="en">
                <a:solidFill>
                  <a:srgbClr val="FFFFFF"/>
                </a:solidFill>
                <a:latin typeface="Consolas"/>
                <a:ea typeface="Consolas"/>
                <a:cs typeface="Consolas"/>
                <a:sym typeface="Consolas"/>
              </a:rPr>
              <a:t>get_string(</a:t>
            </a:r>
            <a:r>
              <a:rPr lang="en">
                <a:latin typeface="Consolas"/>
                <a:ea typeface="Consolas"/>
                <a:cs typeface="Consolas"/>
                <a:sym typeface="Consolas"/>
              </a:rPr>
              <a:t>                    </a:t>
            </a:r>
            <a:r>
              <a:rPr lang="en">
                <a:solidFill>
                  <a:srgbClr val="FFFFFF"/>
                </a:solidFill>
                <a:latin typeface="Consolas"/>
                <a:ea typeface="Consolas"/>
                <a:cs typeface="Consolas"/>
                <a:sym typeface="Consolas"/>
              </a:rPr>
              <a:t>)</a:t>
            </a: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71" name="Google Shape;471;p86"/>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475" name="Shape 475"/>
        <p:cNvGrpSpPr/>
        <p:nvPr/>
      </p:nvGrpSpPr>
      <p:grpSpPr>
        <a:xfrm>
          <a:off x="0" y="0"/>
          <a:ext cx="0" cy="0"/>
          <a:chOff x="0" y="0"/>
          <a:chExt cx="0" cy="0"/>
        </a:xfrm>
      </p:grpSpPr>
      <p:sp>
        <p:nvSpPr>
          <p:cNvPr id="476" name="Google Shape;476;p87"/>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87"/>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87"/>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string answer = </a:t>
            </a:r>
            <a:r>
              <a:rPr lang="en">
                <a:solidFill>
                  <a:srgbClr val="FFFFFF"/>
                </a:solidFill>
                <a:latin typeface="Consolas"/>
                <a:ea typeface="Consolas"/>
                <a:cs typeface="Consolas"/>
                <a:sym typeface="Consolas"/>
              </a:rPr>
              <a:t>get_string(</a:t>
            </a:r>
            <a:r>
              <a:rPr lang="en">
                <a:latin typeface="Consolas"/>
                <a:ea typeface="Consolas"/>
                <a:cs typeface="Consolas"/>
                <a:sym typeface="Consolas"/>
              </a:rPr>
              <a:t>"</a:t>
            </a:r>
            <a:r>
              <a:rPr lang="en">
                <a:solidFill>
                  <a:srgbClr val="FFFFFF"/>
                </a:solidFill>
                <a:latin typeface="Consolas"/>
                <a:ea typeface="Consolas"/>
                <a:cs typeface="Consolas"/>
                <a:sym typeface="Consolas"/>
              </a:rPr>
              <a:t>What's your name? </a:t>
            </a:r>
            <a:r>
              <a:rPr lang="en">
                <a:latin typeface="Consolas"/>
                <a:ea typeface="Consolas"/>
                <a:cs typeface="Consolas"/>
                <a:sym typeface="Consolas"/>
              </a:rPr>
              <a:t>"</a:t>
            </a:r>
            <a:r>
              <a:rPr lang="en">
                <a:solidFill>
                  <a:srgbClr val="FFFFFF"/>
                </a:solidFill>
                <a:latin typeface="Consolas"/>
                <a:ea typeface="Consolas"/>
                <a:cs typeface="Consolas"/>
                <a:sym typeface="Consolas"/>
              </a:rPr>
              <a:t>)</a:t>
            </a: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79" name="Google Shape;479;p87"/>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483" name="Shape 483"/>
        <p:cNvGrpSpPr/>
        <p:nvPr/>
      </p:nvGrpSpPr>
      <p:grpSpPr>
        <a:xfrm>
          <a:off x="0" y="0"/>
          <a:ext cx="0" cy="0"/>
          <a:chOff x="0" y="0"/>
          <a:chExt cx="0" cy="0"/>
        </a:xfrm>
      </p:grpSpPr>
      <p:sp>
        <p:nvSpPr>
          <p:cNvPr id="484" name="Google Shape;484;p88"/>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88"/>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8"/>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string answer = </a:t>
            </a:r>
            <a:r>
              <a:rPr lang="en">
                <a:solidFill>
                  <a:srgbClr val="FFFFFF"/>
                </a:solidFill>
                <a:latin typeface="Consolas"/>
                <a:ea typeface="Consolas"/>
                <a:cs typeface="Consolas"/>
                <a:sym typeface="Consolas"/>
              </a:rPr>
              <a:t>get_string("What's your name? ")</a:t>
            </a: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87" name="Google Shape;487;p88"/>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491" name="Shape 491"/>
        <p:cNvGrpSpPr/>
        <p:nvPr/>
      </p:nvGrpSpPr>
      <p:grpSpPr>
        <a:xfrm>
          <a:off x="0" y="0"/>
          <a:ext cx="0" cy="0"/>
          <a:chOff x="0" y="0"/>
          <a:chExt cx="0" cy="0"/>
        </a:xfrm>
      </p:grpSpPr>
      <p:sp>
        <p:nvSpPr>
          <p:cNvPr id="492" name="Google Shape;492;p89"/>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89"/>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89"/>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string </a:t>
            </a:r>
            <a:r>
              <a:rPr lang="en">
                <a:solidFill>
                  <a:srgbClr val="FFFFFF"/>
                </a:solidFill>
                <a:latin typeface="Consolas"/>
                <a:ea typeface="Consolas"/>
                <a:cs typeface="Consolas"/>
                <a:sym typeface="Consolas"/>
              </a:rPr>
              <a:t>answer = get_string("What's your name? ")</a:t>
            </a: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95" name="Google Shape;495;p89"/>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499" name="Shape 499"/>
        <p:cNvGrpSpPr/>
        <p:nvPr/>
      </p:nvGrpSpPr>
      <p:grpSpPr>
        <a:xfrm>
          <a:off x="0" y="0"/>
          <a:ext cx="0" cy="0"/>
          <a:chOff x="0" y="0"/>
          <a:chExt cx="0" cy="0"/>
        </a:xfrm>
      </p:grpSpPr>
      <p:sp>
        <p:nvSpPr>
          <p:cNvPr id="500" name="Google Shape;500;p9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9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90"/>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string answer = get_string("What's your name? ")</a:t>
            </a:r>
            <a:r>
              <a:rPr lang="en">
                <a:latin typeface="Consolas"/>
                <a:ea typeface="Consolas"/>
                <a:cs typeface="Consolas"/>
                <a:sym typeface="Consolas"/>
              </a:rPr>
              <a: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503" name="Google Shape;503;p90"/>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07" name="Shape 507"/>
        <p:cNvGrpSpPr/>
        <p:nvPr/>
      </p:nvGrpSpPr>
      <p:grpSpPr>
        <a:xfrm>
          <a:off x="0" y="0"/>
          <a:ext cx="0" cy="0"/>
          <a:chOff x="0" y="0"/>
          <a:chExt cx="0" cy="0"/>
        </a:xfrm>
      </p:grpSpPr>
      <p:sp>
        <p:nvSpPr>
          <p:cNvPr id="508" name="Google Shape;508;p91"/>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91"/>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91"/>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string answer = get_string("What's your name? ");</a:t>
            </a:r>
            <a:endParaRPr>
              <a:solidFill>
                <a:srgbClr val="FFFFFF"/>
              </a:solidFill>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511" name="Google Shape;511;p91"/>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15" name="Shape 515"/>
        <p:cNvGrpSpPr/>
        <p:nvPr/>
      </p:nvGrpSpPr>
      <p:grpSpPr>
        <a:xfrm>
          <a:off x="0" y="0"/>
          <a:ext cx="0" cy="0"/>
          <a:chOff x="0" y="0"/>
          <a:chExt cx="0" cy="0"/>
        </a:xfrm>
      </p:grpSpPr>
      <p:sp>
        <p:nvSpPr>
          <p:cNvPr id="516" name="Google Shape;516;p92"/>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92"/>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92"/>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519" name="Google Shape;519;p92"/>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23" name="Shape 523"/>
        <p:cNvGrpSpPr/>
        <p:nvPr/>
      </p:nvGrpSpPr>
      <p:grpSpPr>
        <a:xfrm>
          <a:off x="0" y="0"/>
          <a:ext cx="0" cy="0"/>
          <a:chOff x="0" y="0"/>
          <a:chExt cx="0" cy="0"/>
        </a:xfrm>
      </p:grpSpPr>
      <p:sp>
        <p:nvSpPr>
          <p:cNvPr id="524" name="Google Shape;524;p93"/>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93"/>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93"/>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a:t>
            </a:r>
            <a:r>
              <a:rPr lang="en">
                <a:latin typeface="Consolas"/>
                <a:ea typeface="Consolas"/>
                <a:cs typeface="Consolas"/>
                <a:sym typeface="Consolas"/>
              </a:rPr>
              <a:t>"hello, %s\n",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27" name="Google Shape;527;p93"/>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31" name="Shape 531"/>
        <p:cNvGrpSpPr/>
        <p:nvPr/>
      </p:nvGrpSpPr>
      <p:grpSpPr>
        <a:xfrm>
          <a:off x="0" y="0"/>
          <a:ext cx="0" cy="0"/>
          <a:chOff x="0" y="0"/>
          <a:chExt cx="0" cy="0"/>
        </a:xfrm>
      </p:grpSpPr>
      <p:sp>
        <p:nvSpPr>
          <p:cNvPr id="532" name="Google Shape;532;p94"/>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94"/>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94"/>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a:t>
            </a:r>
            <a:r>
              <a:rPr lang="en">
                <a:latin typeface="Consolas"/>
                <a:ea typeface="Consolas"/>
                <a:cs typeface="Consolas"/>
                <a:sym typeface="Consolas"/>
              </a:rPr>
              <a:t>"</a:t>
            </a:r>
            <a:r>
              <a:rPr lang="en">
                <a:solidFill>
                  <a:srgbClr val="FFFFFF"/>
                </a:solidFill>
                <a:latin typeface="Consolas"/>
                <a:ea typeface="Consolas"/>
                <a:cs typeface="Consolas"/>
                <a:sym typeface="Consolas"/>
              </a:rPr>
              <a:t>hello, %s</a:t>
            </a:r>
            <a:r>
              <a:rPr lang="en">
                <a:latin typeface="Consolas"/>
                <a:ea typeface="Consolas"/>
                <a:cs typeface="Consolas"/>
                <a:sym typeface="Consolas"/>
              </a:rPr>
              <a:t>\n",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35" name="Google Shape;535;p94"/>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39" name="Shape 539"/>
        <p:cNvGrpSpPr/>
        <p:nvPr/>
      </p:nvGrpSpPr>
      <p:grpSpPr>
        <a:xfrm>
          <a:off x="0" y="0"/>
          <a:ext cx="0" cy="0"/>
          <a:chOff x="0" y="0"/>
          <a:chExt cx="0" cy="0"/>
        </a:xfrm>
      </p:grpSpPr>
      <p:sp>
        <p:nvSpPr>
          <p:cNvPr id="540" name="Google Shape;540;p95"/>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95"/>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95"/>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printf("hello, %s</a:t>
            </a:r>
            <a:r>
              <a:rPr lang="en">
                <a:latin typeface="Consolas"/>
                <a:ea typeface="Consolas"/>
                <a:cs typeface="Consolas"/>
                <a:sym typeface="Consolas"/>
              </a:rPr>
              <a:t>\n</a:t>
            </a:r>
            <a:r>
              <a:rPr lang="en">
                <a:solidFill>
                  <a:srgbClr val="FFFFFF"/>
                </a:solidFill>
                <a:latin typeface="Consolas"/>
                <a:ea typeface="Consolas"/>
                <a:cs typeface="Consolas"/>
                <a:sym typeface="Consolas"/>
              </a:rPr>
              <a:t>"</a:t>
            </a:r>
            <a:r>
              <a:rPr lang="en">
                <a:latin typeface="Consolas"/>
                <a:ea typeface="Consolas"/>
                <a:cs typeface="Consolas"/>
                <a:sym typeface="Consolas"/>
              </a:rPr>
              <a:t>,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43" name="Google Shape;543;p95"/>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47" name="Shape 547"/>
        <p:cNvGrpSpPr/>
        <p:nvPr/>
      </p:nvGrpSpPr>
      <p:grpSpPr>
        <a:xfrm>
          <a:off x="0" y="0"/>
          <a:ext cx="0" cy="0"/>
          <a:chOff x="0" y="0"/>
          <a:chExt cx="0" cy="0"/>
        </a:xfrm>
      </p:grpSpPr>
      <p:sp>
        <p:nvSpPr>
          <p:cNvPr id="548" name="Google Shape;548;p96"/>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96"/>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96"/>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printf("hello, %s\n"</a:t>
            </a:r>
            <a:r>
              <a:rPr lang="en">
                <a:latin typeface="Consolas"/>
                <a:ea typeface="Consolas"/>
                <a:cs typeface="Consolas"/>
                <a:sym typeface="Consolas"/>
              </a:rPr>
              <a:t>,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51" name="Google Shape;551;p96"/>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55" name="Shape 555"/>
        <p:cNvGrpSpPr/>
        <p:nvPr/>
      </p:nvGrpSpPr>
      <p:grpSpPr>
        <a:xfrm>
          <a:off x="0" y="0"/>
          <a:ext cx="0" cy="0"/>
          <a:chOff x="0" y="0"/>
          <a:chExt cx="0" cy="0"/>
        </a:xfrm>
      </p:grpSpPr>
      <p:sp>
        <p:nvSpPr>
          <p:cNvPr id="556" name="Google Shape;556;p97"/>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97"/>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97"/>
          <p:cNvSpPr txBox="1"/>
          <p:nvPr/>
        </p:nvSpPr>
        <p:spPr>
          <a:xfrm>
            <a:off x="3831750" y="1524300"/>
            <a:ext cx="5138100" cy="209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printf("hello, %s\n", answer);</a:t>
            </a:r>
            <a:endParaRPr>
              <a:solidFill>
                <a:srgbClr val="FFFFFF"/>
              </a:solidFill>
              <a:latin typeface="Consolas"/>
              <a:ea typeface="Consolas"/>
              <a:cs typeface="Consolas"/>
              <a:sym typeface="Consolas"/>
            </a:endParaRPr>
          </a:p>
        </p:txBody>
      </p:sp>
      <p:pic>
        <p:nvPicPr>
          <p:cNvPr id="559" name="Google Shape;559;p97"/>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9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Linux</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99"/>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cd</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cp</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ls</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mkdir</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mv</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rm</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rmdir</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0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conditionals</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78" name="Shape 578"/>
        <p:cNvGrpSpPr/>
        <p:nvPr/>
      </p:nvGrpSpPr>
      <p:grpSpPr>
        <a:xfrm>
          <a:off x="0" y="0"/>
          <a:ext cx="0" cy="0"/>
          <a:chOff x="0" y="0"/>
          <a:chExt cx="0" cy="0"/>
        </a:xfrm>
      </p:grpSpPr>
      <p:sp>
        <p:nvSpPr>
          <p:cNvPr id="579" name="Google Shape;579;p101"/>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01"/>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01"/>
          <p:cNvSpPr txBox="1"/>
          <p:nvPr/>
        </p:nvSpPr>
        <p:spPr>
          <a:xfrm>
            <a:off x="4477650" y="1692300"/>
            <a:ext cx="43767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if (x &lt; y)</a:t>
            </a:r>
            <a:br>
              <a:rPr lang="en" sz="1800">
                <a:latin typeface="Consolas"/>
                <a:ea typeface="Consolas"/>
                <a:cs typeface="Consolas"/>
                <a:sym typeface="Consolas"/>
              </a:rPr>
            </a:b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582" name="Google Shape;582;p101"/>
          <p:cNvPicPr preferRelativeResize="0"/>
          <p:nvPr/>
        </p:nvPicPr>
        <p:blipFill>
          <a:blip r:embed="rId3">
            <a:alphaModFix/>
          </a:blip>
          <a:stretch>
            <a:fillRect/>
          </a:stretch>
        </p:blipFill>
        <p:spPr>
          <a:xfrm>
            <a:off x="457200" y="1824225"/>
            <a:ext cx="2743200" cy="149504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86" name="Shape 586"/>
        <p:cNvGrpSpPr/>
        <p:nvPr/>
      </p:nvGrpSpPr>
      <p:grpSpPr>
        <a:xfrm>
          <a:off x="0" y="0"/>
          <a:ext cx="0" cy="0"/>
          <a:chOff x="0" y="0"/>
          <a:chExt cx="0" cy="0"/>
        </a:xfrm>
      </p:grpSpPr>
      <p:sp>
        <p:nvSpPr>
          <p:cNvPr id="587" name="Google Shape;587;p102"/>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02"/>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02"/>
          <p:cNvSpPr txBox="1"/>
          <p:nvPr/>
        </p:nvSpPr>
        <p:spPr>
          <a:xfrm>
            <a:off x="4477650" y="1692300"/>
            <a:ext cx="43767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a:t>
            </a:r>
            <a:r>
              <a:rPr lang="en" sz="1800">
                <a:latin typeface="Consolas"/>
                <a:ea typeface="Consolas"/>
                <a:cs typeface="Consolas"/>
                <a:sym typeface="Consolas"/>
              </a:rPr>
              <a:t>printf("x is less than y\n");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590" name="Google Shape;590;p102"/>
          <p:cNvPicPr preferRelativeResize="0"/>
          <p:nvPr/>
        </p:nvPicPr>
        <p:blipFill>
          <a:blip r:embed="rId3">
            <a:alphaModFix/>
          </a:blip>
          <a:stretch>
            <a:fillRect/>
          </a:stretch>
        </p:blipFill>
        <p:spPr>
          <a:xfrm>
            <a:off x="457200" y="1824225"/>
            <a:ext cx="2743200" cy="149504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594" name="Shape 594"/>
        <p:cNvGrpSpPr/>
        <p:nvPr/>
      </p:nvGrpSpPr>
      <p:grpSpPr>
        <a:xfrm>
          <a:off x="0" y="0"/>
          <a:ext cx="0" cy="0"/>
          <a:chOff x="0" y="0"/>
          <a:chExt cx="0" cy="0"/>
        </a:xfrm>
      </p:grpSpPr>
      <p:sp>
        <p:nvSpPr>
          <p:cNvPr id="595" name="Google Shape;595;p103"/>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03"/>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03"/>
          <p:cNvSpPr txBox="1"/>
          <p:nvPr/>
        </p:nvSpPr>
        <p:spPr>
          <a:xfrm>
            <a:off x="4477650" y="1692300"/>
            <a:ext cx="43767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598" name="Google Shape;598;p103"/>
          <p:cNvPicPr preferRelativeResize="0"/>
          <p:nvPr/>
        </p:nvPicPr>
        <p:blipFill>
          <a:blip r:embed="rId3">
            <a:alphaModFix/>
          </a:blip>
          <a:stretch>
            <a:fillRect/>
          </a:stretch>
        </p:blipFill>
        <p:spPr>
          <a:xfrm>
            <a:off x="457200" y="1824225"/>
            <a:ext cx="2743200" cy="149504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02" name="Shape 602"/>
        <p:cNvGrpSpPr/>
        <p:nvPr/>
      </p:nvGrpSpPr>
      <p:grpSpPr>
        <a:xfrm>
          <a:off x="0" y="0"/>
          <a:ext cx="0" cy="0"/>
          <a:chOff x="0" y="0"/>
          <a:chExt cx="0" cy="0"/>
        </a:xfrm>
      </p:grpSpPr>
      <p:sp>
        <p:nvSpPr>
          <p:cNvPr id="603" name="Google Shape;603;p104"/>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04"/>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04"/>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if (x &lt; y)</a:t>
            </a:r>
            <a:br>
              <a:rPr lang="en" sz="1800">
                <a:latin typeface="Consolas"/>
                <a:ea typeface="Consolas"/>
                <a:cs typeface="Consolas"/>
                <a:sym typeface="Consolas"/>
              </a:rPr>
            </a:b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else</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not less than y\n");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606" name="Google Shape;606;p104"/>
          <p:cNvPicPr preferRelativeResize="0"/>
          <p:nvPr/>
        </p:nvPicPr>
        <p:blipFill>
          <a:blip r:embed="rId3">
            <a:alphaModFix/>
          </a:blip>
          <a:stretch>
            <a:fillRect/>
          </a:stretch>
        </p:blipFill>
        <p:spPr>
          <a:xfrm>
            <a:off x="457200" y="1416200"/>
            <a:ext cx="2743200" cy="231108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10" name="Shape 610"/>
        <p:cNvGrpSpPr/>
        <p:nvPr/>
      </p:nvGrpSpPr>
      <p:grpSpPr>
        <a:xfrm>
          <a:off x="0" y="0"/>
          <a:ext cx="0" cy="0"/>
          <a:chOff x="0" y="0"/>
          <a:chExt cx="0" cy="0"/>
        </a:xfrm>
      </p:grpSpPr>
      <p:sp>
        <p:nvSpPr>
          <p:cNvPr id="611" name="Google Shape;611;p105"/>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05"/>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05"/>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not less than y\n");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14" name="Google Shape;614;p105"/>
          <p:cNvPicPr preferRelativeResize="0"/>
          <p:nvPr/>
        </p:nvPicPr>
        <p:blipFill>
          <a:blip r:embed="rId3">
            <a:alphaModFix/>
          </a:blip>
          <a:stretch>
            <a:fillRect/>
          </a:stretch>
        </p:blipFill>
        <p:spPr>
          <a:xfrm>
            <a:off x="457200" y="1416200"/>
            <a:ext cx="2743200" cy="231108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18" name="Shape 618"/>
        <p:cNvGrpSpPr/>
        <p:nvPr/>
      </p:nvGrpSpPr>
      <p:grpSpPr>
        <a:xfrm>
          <a:off x="0" y="0"/>
          <a:ext cx="0" cy="0"/>
          <a:chOff x="0" y="0"/>
          <a:chExt cx="0" cy="0"/>
        </a:xfrm>
      </p:grpSpPr>
      <p:sp>
        <p:nvSpPr>
          <p:cNvPr id="619" name="Google Shape;619;p106"/>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06"/>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06"/>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not less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22" name="Google Shape;622;p106"/>
          <p:cNvPicPr preferRelativeResize="0"/>
          <p:nvPr/>
        </p:nvPicPr>
        <p:blipFill>
          <a:blip r:embed="rId3">
            <a:alphaModFix/>
          </a:blip>
          <a:stretch>
            <a:fillRect/>
          </a:stretch>
        </p:blipFill>
        <p:spPr>
          <a:xfrm>
            <a:off x="457200" y="1416200"/>
            <a:ext cx="2743200" cy="231108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26" name="Shape 626"/>
        <p:cNvGrpSpPr/>
        <p:nvPr/>
      </p:nvGrpSpPr>
      <p:grpSpPr>
        <a:xfrm>
          <a:off x="0" y="0"/>
          <a:ext cx="0" cy="0"/>
          <a:chOff x="0" y="0"/>
          <a:chExt cx="0" cy="0"/>
        </a:xfrm>
      </p:grpSpPr>
      <p:sp>
        <p:nvSpPr>
          <p:cNvPr id="627" name="Google Shape;627;p107"/>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07"/>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07"/>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if (x &lt; y)</a:t>
            </a:r>
            <a:br>
              <a:rPr lang="en" sz="1800">
                <a:latin typeface="Consolas"/>
                <a:ea typeface="Consolas"/>
                <a:cs typeface="Consolas"/>
                <a:sym typeface="Consolas"/>
              </a:rPr>
            </a:b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else if (x &gt; y)</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greater than y\n");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else if (x == y)</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equal to y\n");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630" name="Google Shape;630;p107"/>
          <p:cNvPicPr preferRelativeResize="0"/>
          <p:nvPr/>
        </p:nvPicPr>
        <p:blipFill>
          <a:blip r:embed="rId3">
            <a:alphaModFix/>
          </a:blip>
          <a:stretch>
            <a:fillRect/>
          </a:stretch>
        </p:blipFill>
        <p:spPr>
          <a:xfrm>
            <a:off x="457201" y="352750"/>
            <a:ext cx="2743199" cy="443799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34" name="Shape 634"/>
        <p:cNvGrpSpPr/>
        <p:nvPr/>
      </p:nvGrpSpPr>
      <p:grpSpPr>
        <a:xfrm>
          <a:off x="0" y="0"/>
          <a:ext cx="0" cy="0"/>
          <a:chOff x="0" y="0"/>
          <a:chExt cx="0" cy="0"/>
        </a:xfrm>
      </p:grpSpPr>
      <p:sp>
        <p:nvSpPr>
          <p:cNvPr id="635" name="Google Shape;635;p108"/>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08"/>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08"/>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 if (x &gt; y)</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greater than y\n");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 if (x == y)</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equal to y\n");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38" name="Google Shape;638;p108"/>
          <p:cNvPicPr preferRelativeResize="0"/>
          <p:nvPr/>
        </p:nvPicPr>
        <p:blipFill>
          <a:blip r:embed="rId3">
            <a:alphaModFix/>
          </a:blip>
          <a:stretch>
            <a:fillRect/>
          </a:stretch>
        </p:blipFill>
        <p:spPr>
          <a:xfrm>
            <a:off x="457201" y="352750"/>
            <a:ext cx="2743199" cy="443799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42" name="Shape 642"/>
        <p:cNvGrpSpPr/>
        <p:nvPr/>
      </p:nvGrpSpPr>
      <p:grpSpPr>
        <a:xfrm>
          <a:off x="0" y="0"/>
          <a:ext cx="0" cy="0"/>
          <a:chOff x="0" y="0"/>
          <a:chExt cx="0" cy="0"/>
        </a:xfrm>
      </p:grpSpPr>
      <p:sp>
        <p:nvSpPr>
          <p:cNvPr id="643" name="Google Shape;643;p109"/>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09"/>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09"/>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 if (x &gt; y)</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greater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 if (x == y)</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equal to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46" name="Google Shape;646;p109"/>
          <p:cNvPicPr preferRelativeResize="0"/>
          <p:nvPr/>
        </p:nvPicPr>
        <p:blipFill>
          <a:blip r:embed="rId3">
            <a:alphaModFix/>
          </a:blip>
          <a:stretch>
            <a:fillRect/>
          </a:stretch>
        </p:blipFill>
        <p:spPr>
          <a:xfrm>
            <a:off x="457201" y="352750"/>
            <a:ext cx="2743199" cy="443799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650" name="Shape 650"/>
        <p:cNvGrpSpPr/>
        <p:nvPr/>
      </p:nvGrpSpPr>
      <p:grpSpPr>
        <a:xfrm>
          <a:off x="0" y="0"/>
          <a:ext cx="0" cy="0"/>
          <a:chOff x="0" y="0"/>
          <a:chExt cx="0" cy="0"/>
        </a:xfrm>
      </p:grpSpPr>
      <p:sp>
        <p:nvSpPr>
          <p:cNvPr id="651" name="Google Shape;651;p11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1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10"/>
          <p:cNvSpPr txBox="1"/>
          <p:nvPr/>
        </p:nvSpPr>
        <p:spPr>
          <a:xfrm>
            <a:off x="3972750" y="1384950"/>
            <a:ext cx="4856100" cy="2373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 if (x &gt; y)</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greater than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else</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equal to y\n");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54" name="Google Shape;654;p110"/>
          <p:cNvPicPr preferRelativeResize="0"/>
          <p:nvPr/>
        </p:nvPicPr>
        <p:blipFill>
          <a:blip r:embed="rId3">
            <a:alphaModFix/>
          </a:blip>
          <a:stretch>
            <a:fillRect/>
          </a:stretch>
        </p:blipFill>
        <p:spPr>
          <a:xfrm>
            <a:off x="457200" y="358300"/>
            <a:ext cx="2610575" cy="363155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11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operators</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12"/>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&lt;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&lt;=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11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types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4"/>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rgbClr val="000000"/>
                </a:solidFill>
                <a:highlight>
                  <a:schemeClr val="dk1"/>
                </a:highlight>
                <a:latin typeface="Consolas"/>
                <a:ea typeface="Consolas"/>
                <a:cs typeface="Consolas"/>
                <a:sym typeface="Consolas"/>
              </a:rPr>
              <a:t>string</a:t>
            </a:r>
            <a:endParaRPr>
              <a:solidFill>
                <a:srgbClr val="000000"/>
              </a:solidFill>
              <a:highlight>
                <a:schemeClr val="dk1"/>
              </a:highlight>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15"/>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1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cs50.h</a:t>
            </a:r>
            <a:endParaRPr>
              <a:latin typeface="Consolas"/>
              <a:ea typeface="Consolas"/>
              <a:cs typeface="Consolas"/>
              <a:sym typeface="Consola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17"/>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get_int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000000"/>
                </a:solidFill>
                <a:highlight>
                  <a:schemeClr val="dk1"/>
                </a:highlight>
                <a:latin typeface="Consolas"/>
                <a:ea typeface="Consolas"/>
                <a:cs typeface="Consolas"/>
                <a:sym typeface="Consolas"/>
              </a:rPr>
              <a:t>get_string</a:t>
            </a:r>
            <a:endParaRPr>
              <a:solidFill>
                <a:srgbClr val="000000"/>
              </a:solidFill>
              <a:highlight>
                <a:schemeClr val="dk1"/>
              </a:highlight>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18"/>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11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format codes</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2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%f</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%i</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%li</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000000"/>
                </a:solidFill>
                <a:highlight>
                  <a:schemeClr val="dk1"/>
                </a:highlight>
                <a:latin typeface="Consolas"/>
                <a:ea typeface="Consolas"/>
                <a:cs typeface="Consolas"/>
                <a:sym typeface="Consolas"/>
              </a:rPr>
              <a:t>%s</a:t>
            </a:r>
            <a:endParaRPr>
              <a:solidFill>
                <a:srgbClr val="000000"/>
              </a:solidFill>
              <a:highlight>
                <a:schemeClr val="dk1"/>
              </a:highlight>
              <a:latin typeface="Consolas"/>
              <a:ea typeface="Consolas"/>
              <a:cs typeface="Consolas"/>
              <a:sym typeface="Consola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21"/>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%f</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%i</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%li</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%s</a:t>
            </a:r>
            <a:endParaRPr>
              <a:solidFill>
                <a:srgbClr val="FFFFFF"/>
              </a:solidFill>
              <a:latin typeface="Consolas"/>
              <a:ea typeface="Consolas"/>
              <a:cs typeface="Consolas"/>
              <a:sym typeface="Consola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variables</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18" name="Shape 718"/>
        <p:cNvGrpSpPr/>
        <p:nvPr/>
      </p:nvGrpSpPr>
      <p:grpSpPr>
        <a:xfrm>
          <a:off x="0" y="0"/>
          <a:ext cx="0" cy="0"/>
          <a:chOff x="0" y="0"/>
          <a:chExt cx="0" cy="0"/>
        </a:xfrm>
      </p:grpSpPr>
      <p:sp>
        <p:nvSpPr>
          <p:cNvPr id="719" name="Google Shape;719;p123"/>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23"/>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23"/>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onsolas"/>
                <a:ea typeface="Consolas"/>
                <a:cs typeface="Consolas"/>
                <a:sym typeface="Consolas"/>
              </a:rPr>
              <a:t>int counter = 0;</a:t>
            </a:r>
            <a:endParaRPr sz="1800">
              <a:latin typeface="Consolas"/>
              <a:ea typeface="Consolas"/>
              <a:cs typeface="Consolas"/>
              <a:sym typeface="Consolas"/>
            </a:endParaRPr>
          </a:p>
        </p:txBody>
      </p:sp>
      <p:pic>
        <p:nvPicPr>
          <p:cNvPr id="722" name="Google Shape;722;p123"/>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26" name="Shape 726"/>
        <p:cNvGrpSpPr/>
        <p:nvPr/>
      </p:nvGrpSpPr>
      <p:grpSpPr>
        <a:xfrm>
          <a:off x="0" y="0"/>
          <a:ext cx="0" cy="0"/>
          <a:chOff x="0" y="0"/>
          <a:chExt cx="0" cy="0"/>
        </a:xfrm>
      </p:grpSpPr>
      <p:sp>
        <p:nvSpPr>
          <p:cNvPr id="727" name="Google Shape;727;p124"/>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24"/>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24"/>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onsolas"/>
                <a:ea typeface="Consolas"/>
                <a:cs typeface="Consolas"/>
                <a:sym typeface="Consolas"/>
              </a:rPr>
              <a:t>int</a:t>
            </a:r>
            <a:r>
              <a:rPr lang="en" sz="1800">
                <a:solidFill>
                  <a:srgbClr val="FFFFFF"/>
                </a:solidFill>
                <a:latin typeface="Consolas"/>
                <a:ea typeface="Consolas"/>
                <a:cs typeface="Consolas"/>
                <a:sym typeface="Consolas"/>
              </a:rPr>
              <a:t> counter = 0</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730" name="Google Shape;730;p124"/>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34" name="Shape 734"/>
        <p:cNvGrpSpPr/>
        <p:nvPr/>
      </p:nvGrpSpPr>
      <p:grpSpPr>
        <a:xfrm>
          <a:off x="0" y="0"/>
          <a:ext cx="0" cy="0"/>
          <a:chOff x="0" y="0"/>
          <a:chExt cx="0" cy="0"/>
        </a:xfrm>
      </p:grpSpPr>
      <p:sp>
        <p:nvSpPr>
          <p:cNvPr id="735" name="Google Shape;735;p125"/>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25"/>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25"/>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int counter = 0</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738" name="Google Shape;738;p125"/>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42" name="Shape 742"/>
        <p:cNvGrpSpPr/>
        <p:nvPr/>
      </p:nvGrpSpPr>
      <p:grpSpPr>
        <a:xfrm>
          <a:off x="0" y="0"/>
          <a:ext cx="0" cy="0"/>
          <a:chOff x="0" y="0"/>
          <a:chExt cx="0" cy="0"/>
        </a:xfrm>
      </p:grpSpPr>
      <p:sp>
        <p:nvSpPr>
          <p:cNvPr id="743" name="Google Shape;743;p126"/>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26"/>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26"/>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int counter = 0;</a:t>
            </a:r>
            <a:endParaRPr sz="1800">
              <a:solidFill>
                <a:srgbClr val="FFFFFF"/>
              </a:solidFill>
              <a:latin typeface="Consolas"/>
              <a:ea typeface="Consolas"/>
              <a:cs typeface="Consolas"/>
              <a:sym typeface="Consolas"/>
            </a:endParaRPr>
          </a:p>
        </p:txBody>
      </p:sp>
      <p:pic>
        <p:nvPicPr>
          <p:cNvPr id="746" name="Google Shape;746;p126"/>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50" name="Shape 750"/>
        <p:cNvGrpSpPr/>
        <p:nvPr/>
      </p:nvGrpSpPr>
      <p:grpSpPr>
        <a:xfrm>
          <a:off x="0" y="0"/>
          <a:ext cx="0" cy="0"/>
          <a:chOff x="0" y="0"/>
          <a:chExt cx="0" cy="0"/>
        </a:xfrm>
      </p:grpSpPr>
      <p:sp>
        <p:nvSpPr>
          <p:cNvPr id="751" name="Google Shape;751;p127"/>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27"/>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27"/>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onsolas"/>
                <a:ea typeface="Consolas"/>
                <a:cs typeface="Consolas"/>
                <a:sym typeface="Consolas"/>
              </a:rPr>
              <a:t>counter = counter + 1;</a:t>
            </a:r>
            <a:endParaRPr sz="1800">
              <a:latin typeface="Consolas"/>
              <a:ea typeface="Consolas"/>
              <a:cs typeface="Consolas"/>
              <a:sym typeface="Consolas"/>
            </a:endParaRPr>
          </a:p>
        </p:txBody>
      </p:sp>
      <p:pic>
        <p:nvPicPr>
          <p:cNvPr id="754" name="Google Shape;754;p127"/>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58" name="Shape 758"/>
        <p:cNvGrpSpPr/>
        <p:nvPr/>
      </p:nvGrpSpPr>
      <p:grpSpPr>
        <a:xfrm>
          <a:off x="0" y="0"/>
          <a:ext cx="0" cy="0"/>
          <a:chOff x="0" y="0"/>
          <a:chExt cx="0" cy="0"/>
        </a:xfrm>
      </p:grpSpPr>
      <p:sp>
        <p:nvSpPr>
          <p:cNvPr id="759" name="Google Shape;759;p128"/>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28"/>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28"/>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counter = counter + 1;</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762" name="Google Shape;762;p128"/>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66" name="Shape 766"/>
        <p:cNvGrpSpPr/>
        <p:nvPr/>
      </p:nvGrpSpPr>
      <p:grpSpPr>
        <a:xfrm>
          <a:off x="0" y="0"/>
          <a:ext cx="0" cy="0"/>
          <a:chOff x="0" y="0"/>
          <a:chExt cx="0" cy="0"/>
        </a:xfrm>
      </p:grpSpPr>
      <p:sp>
        <p:nvSpPr>
          <p:cNvPr id="767" name="Google Shape;767;p129"/>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29"/>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29"/>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counter += 1;</a:t>
            </a:r>
            <a:endParaRPr sz="1800">
              <a:solidFill>
                <a:srgbClr val="FFFFFF"/>
              </a:solidFill>
              <a:latin typeface="Consolas"/>
              <a:ea typeface="Consolas"/>
              <a:cs typeface="Consolas"/>
              <a:sym typeface="Consolas"/>
            </a:endParaRPr>
          </a:p>
        </p:txBody>
      </p:sp>
      <p:pic>
        <p:nvPicPr>
          <p:cNvPr id="770" name="Google Shape;770;p129"/>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74" name="Shape 774"/>
        <p:cNvGrpSpPr/>
        <p:nvPr/>
      </p:nvGrpSpPr>
      <p:grpSpPr>
        <a:xfrm>
          <a:off x="0" y="0"/>
          <a:ext cx="0" cy="0"/>
          <a:chOff x="0" y="0"/>
          <a:chExt cx="0" cy="0"/>
        </a:xfrm>
      </p:grpSpPr>
      <p:sp>
        <p:nvSpPr>
          <p:cNvPr id="775" name="Google Shape;775;p13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3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30"/>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counter++;</a:t>
            </a:r>
            <a:endParaRPr sz="1800">
              <a:solidFill>
                <a:srgbClr val="FFFFFF"/>
              </a:solidFill>
              <a:latin typeface="Consolas"/>
              <a:ea typeface="Consolas"/>
              <a:cs typeface="Consolas"/>
              <a:sym typeface="Consolas"/>
            </a:endParaRPr>
          </a:p>
        </p:txBody>
      </p:sp>
      <p:pic>
        <p:nvPicPr>
          <p:cNvPr id="778" name="Google Shape;778;p130"/>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782" name="Shape 782"/>
        <p:cNvGrpSpPr/>
        <p:nvPr/>
      </p:nvGrpSpPr>
      <p:grpSpPr>
        <a:xfrm>
          <a:off x="0" y="0"/>
          <a:ext cx="0" cy="0"/>
          <a:chOff x="0" y="0"/>
          <a:chExt cx="0" cy="0"/>
        </a:xfrm>
      </p:grpSpPr>
      <p:sp>
        <p:nvSpPr>
          <p:cNvPr id="783" name="Google Shape;783;p131"/>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31"/>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31"/>
          <p:cNvSpPr txBox="1"/>
          <p:nvPr/>
        </p:nvSpPr>
        <p:spPr>
          <a:xfrm>
            <a:off x="4747500" y="1959300"/>
            <a:ext cx="3306600" cy="122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Consolas"/>
                <a:ea typeface="Consolas"/>
                <a:cs typeface="Consolas"/>
                <a:sym typeface="Consolas"/>
              </a:rPr>
              <a:t>counter--;</a:t>
            </a:r>
            <a:endParaRPr sz="1800">
              <a:solidFill>
                <a:srgbClr val="FFFFFF"/>
              </a:solidFill>
              <a:latin typeface="Consolas"/>
              <a:ea typeface="Consolas"/>
              <a:cs typeface="Consolas"/>
              <a:sym typeface="Consolas"/>
            </a:endParaRPr>
          </a:p>
        </p:txBody>
      </p:sp>
      <p:pic>
        <p:nvPicPr>
          <p:cNvPr id="786" name="Google Shape;786;p131"/>
          <p:cNvPicPr preferRelativeResize="0"/>
          <p:nvPr/>
        </p:nvPicPr>
        <p:blipFill>
          <a:blip r:embed="rId3">
            <a:alphaModFix/>
          </a:blip>
          <a:stretch>
            <a:fillRect/>
          </a:stretch>
        </p:blipFill>
        <p:spPr>
          <a:xfrm>
            <a:off x="457200" y="2251788"/>
            <a:ext cx="2743200" cy="63990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id="791" name="Google Shape;791;p132"/>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pic>
        <p:nvPicPr>
          <p:cNvPr id="796" name="Google Shape;796;p133"/>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id="801" name="Google Shape;801;p134"/>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pic>
        <p:nvPicPr>
          <p:cNvPr id="806" name="Google Shape;806;p135"/>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pic>
        <p:nvPicPr>
          <p:cNvPr id="811" name="Google Shape;811;p136"/>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7"/>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chemeClr val="dk1"/>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indent="0" lvl="0" marL="0" rtl="0" algn="l">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38"/>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onsolas"/>
                <a:ea typeface="Consolas"/>
                <a:cs typeface="Consolas"/>
                <a:sym typeface="Consolas"/>
              </a:rPr>
              <a:t>get_char</a:t>
            </a:r>
            <a:endParaRPr>
              <a:solidFill>
                <a:schemeClr val="dk1"/>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3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loops</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30" name="Shape 830"/>
        <p:cNvGrpSpPr/>
        <p:nvPr/>
      </p:nvGrpSpPr>
      <p:grpSpPr>
        <a:xfrm>
          <a:off x="0" y="0"/>
          <a:ext cx="0" cy="0"/>
          <a:chOff x="0" y="0"/>
          <a:chExt cx="0" cy="0"/>
        </a:xfrm>
      </p:grpSpPr>
      <p:sp>
        <p:nvSpPr>
          <p:cNvPr id="831" name="Google Shape;831;p14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4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3" name="Google Shape;833;p140"/>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37" name="Shape 837"/>
        <p:cNvGrpSpPr/>
        <p:nvPr/>
      </p:nvGrpSpPr>
      <p:grpSpPr>
        <a:xfrm>
          <a:off x="0" y="0"/>
          <a:ext cx="0" cy="0"/>
          <a:chOff x="0" y="0"/>
          <a:chExt cx="0" cy="0"/>
        </a:xfrm>
      </p:grpSpPr>
      <p:sp>
        <p:nvSpPr>
          <p:cNvPr id="838" name="Google Shape;838;p141"/>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41"/>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41"/>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int i = 3;</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while (i &gt; 0)</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printf("meow\n");</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i</a:t>
            </a:r>
            <a:r>
              <a:rPr lang="en" sz="1800">
                <a:solidFill>
                  <a:srgbClr val="FFFFFF"/>
                </a:solidFill>
                <a:latin typeface="Consolas"/>
                <a:ea typeface="Consolas"/>
                <a:cs typeface="Consolas"/>
                <a:sym typeface="Consolas"/>
              </a:rPr>
              <a:t>--</a:t>
            </a: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841" name="Google Shape;841;p141"/>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45" name="Shape 845"/>
        <p:cNvGrpSpPr/>
        <p:nvPr/>
      </p:nvGrpSpPr>
      <p:grpSpPr>
        <a:xfrm>
          <a:off x="0" y="0"/>
          <a:ext cx="0" cy="0"/>
          <a:chOff x="0" y="0"/>
          <a:chExt cx="0" cy="0"/>
        </a:xfrm>
      </p:grpSpPr>
      <p:sp>
        <p:nvSpPr>
          <p:cNvPr id="846" name="Google Shape;846;p142"/>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42"/>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42"/>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int i = 3;</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while (i &gt; 0)</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printf("meow\n");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i--;</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849" name="Google Shape;849;p142"/>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53" name="Shape 853"/>
        <p:cNvGrpSpPr/>
        <p:nvPr/>
      </p:nvGrpSpPr>
      <p:grpSpPr>
        <a:xfrm>
          <a:off x="0" y="0"/>
          <a:ext cx="0" cy="0"/>
          <a:chOff x="0" y="0"/>
          <a:chExt cx="0" cy="0"/>
        </a:xfrm>
      </p:grpSpPr>
      <p:sp>
        <p:nvSpPr>
          <p:cNvPr id="854" name="Google Shape;854;p143"/>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43"/>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43"/>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int i = </a:t>
            </a:r>
            <a:r>
              <a:rPr lang="en" sz="1800">
                <a:solidFill>
                  <a:schemeClr val="dk1"/>
                </a:solidFill>
                <a:latin typeface="Consolas"/>
                <a:ea typeface="Consolas"/>
                <a:cs typeface="Consolas"/>
                <a:sym typeface="Consolas"/>
              </a:rPr>
              <a:t>0</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while (i &lt; 3)</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printf("meow\n");</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i++;</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857" name="Google Shape;857;p143"/>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id="862" name="Google Shape;862;p144"/>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66" name="Shape 866"/>
        <p:cNvGrpSpPr/>
        <p:nvPr/>
      </p:nvGrpSpPr>
      <p:grpSpPr>
        <a:xfrm>
          <a:off x="0" y="0"/>
          <a:ext cx="0" cy="0"/>
          <a:chOff x="0" y="0"/>
          <a:chExt cx="0" cy="0"/>
        </a:xfrm>
      </p:grpSpPr>
      <p:sp>
        <p:nvSpPr>
          <p:cNvPr id="867" name="Google Shape;867;p145"/>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45"/>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45"/>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for (int i = 0; i &lt; 3; i++)</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printf("meow\n");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870" name="Google Shape;870;p145"/>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pic>
        <p:nvPicPr>
          <p:cNvPr id="875" name="Google Shape;875;p146"/>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79" name="Shape 879"/>
        <p:cNvGrpSpPr/>
        <p:nvPr/>
      </p:nvGrpSpPr>
      <p:grpSpPr>
        <a:xfrm>
          <a:off x="0" y="0"/>
          <a:ext cx="0" cy="0"/>
          <a:chOff x="0" y="0"/>
          <a:chExt cx="0" cy="0"/>
        </a:xfrm>
      </p:grpSpPr>
      <p:sp>
        <p:nvSpPr>
          <p:cNvPr id="880" name="Google Shape;880;p147"/>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47"/>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47"/>
          <p:cNvSpPr txBox="1"/>
          <p:nvPr/>
        </p:nvSpPr>
        <p:spPr>
          <a:xfrm>
            <a:off x="4477650" y="1692300"/>
            <a:ext cx="3846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Consolas"/>
                <a:ea typeface="Consolas"/>
                <a:cs typeface="Consolas"/>
                <a:sym typeface="Consolas"/>
              </a:rPr>
              <a:t>while (true)</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    printf("meow\n");</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883" name="Google Shape;883;p147"/>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87" name="Shape 887"/>
        <p:cNvGrpSpPr/>
        <p:nvPr/>
      </p:nvGrpSpPr>
      <p:grpSpPr>
        <a:xfrm>
          <a:off x="0" y="0"/>
          <a:ext cx="0" cy="0"/>
          <a:chOff x="0" y="0"/>
          <a:chExt cx="0" cy="0"/>
        </a:xfrm>
      </p:grpSpPr>
      <p:sp>
        <p:nvSpPr>
          <p:cNvPr id="888" name="Google Shape;888;p148"/>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48"/>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48"/>
          <p:cNvSpPr txBox="1"/>
          <p:nvPr/>
        </p:nvSpPr>
        <p:spPr>
          <a:xfrm>
            <a:off x="4477650" y="1692300"/>
            <a:ext cx="3846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while (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891" name="Google Shape;891;p148"/>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895" name="Shape 895"/>
        <p:cNvGrpSpPr/>
        <p:nvPr/>
      </p:nvGrpSpPr>
      <p:grpSpPr>
        <a:xfrm>
          <a:off x="0" y="0"/>
          <a:ext cx="0" cy="0"/>
          <a:chOff x="0" y="0"/>
          <a:chExt cx="0" cy="0"/>
        </a:xfrm>
      </p:grpSpPr>
      <p:sp>
        <p:nvSpPr>
          <p:cNvPr id="896" name="Google Shape;896;p149"/>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49"/>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49"/>
          <p:cNvSpPr txBox="1"/>
          <p:nvPr/>
        </p:nvSpPr>
        <p:spPr>
          <a:xfrm>
            <a:off x="4477650" y="1692300"/>
            <a:ext cx="3846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while (true)</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899" name="Google Shape;899;p149"/>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03" name="Shape 903"/>
        <p:cNvGrpSpPr/>
        <p:nvPr/>
      </p:nvGrpSpPr>
      <p:grpSpPr>
        <a:xfrm>
          <a:off x="0" y="0"/>
          <a:ext cx="0" cy="0"/>
          <a:chOff x="0" y="0"/>
          <a:chExt cx="0" cy="0"/>
        </a:xfrm>
      </p:grpSpPr>
      <p:sp>
        <p:nvSpPr>
          <p:cNvPr id="904" name="Google Shape;904;p15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5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50"/>
          <p:cNvSpPr txBox="1"/>
          <p:nvPr/>
        </p:nvSpPr>
        <p:spPr>
          <a:xfrm>
            <a:off x="4477650" y="1692300"/>
            <a:ext cx="3846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while (true)</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printf("meow\n");</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907" name="Google Shape;907;p150"/>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pic>
        <p:nvPicPr>
          <p:cNvPr id="912" name="Google Shape;912;p151"/>
          <p:cNvPicPr preferRelativeResize="0"/>
          <p:nvPr/>
        </p:nvPicPr>
        <p:blipFill>
          <a:blip r:embed="rId3">
            <a:alphaModFix/>
          </a:blip>
          <a:stretch>
            <a:fillRect/>
          </a:stretch>
        </p:blipFill>
        <p:spPr>
          <a:xfrm>
            <a:off x="3810000" y="1809750"/>
            <a:ext cx="1524000" cy="15240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6" name="Shape 916"/>
        <p:cNvGrpSpPr/>
        <p:nvPr/>
      </p:nvGrpSpPr>
      <p:grpSpPr>
        <a:xfrm>
          <a:off x="0" y="0"/>
          <a:ext cx="0" cy="0"/>
          <a:chOff x="0" y="0"/>
          <a:chExt cx="0" cy="0"/>
        </a:xfrm>
      </p:grpSpPr>
      <p:sp>
        <p:nvSpPr>
          <p:cNvPr id="917" name="Google Shape;917;p152"/>
          <p:cNvSpPr txBox="1"/>
          <p:nvPr>
            <p:ph type="title"/>
          </p:nvPr>
        </p:nvSpPr>
        <p:spPr>
          <a:xfrm>
            <a:off x="311700" y="4113025"/>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If you'd like a stress ball, what do today's binary bulbs spell?</a:t>
            </a:r>
            <a:endParaRPr sz="2400"/>
          </a:p>
        </p:txBody>
      </p:sp>
      <p:pic>
        <p:nvPicPr>
          <p:cNvPr id="918" name="Google Shape;918;p152"/>
          <p:cNvPicPr preferRelativeResize="0"/>
          <p:nvPr/>
        </p:nvPicPr>
        <p:blipFill>
          <a:blip r:embed="rId3">
            <a:alphaModFix/>
          </a:blip>
          <a:stretch>
            <a:fillRect/>
          </a:stretch>
        </p:blipFill>
        <p:spPr>
          <a:xfrm>
            <a:off x="3810000" y="1809750"/>
            <a:ext cx="1524000" cy="15240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5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control-c</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5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scope</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pic>
        <p:nvPicPr>
          <p:cNvPr id="933" name="Google Shape;933;p155"/>
          <p:cNvPicPr preferRelativeResize="0"/>
          <p:nvPr/>
        </p:nvPicPr>
        <p:blipFill>
          <a:blip r:embed="rId3">
            <a:alphaModFix/>
          </a:blip>
          <a:stretch>
            <a:fillRect/>
          </a:stretch>
        </p:blipFill>
        <p:spPr>
          <a:xfrm>
            <a:off x="1058675" y="0"/>
            <a:ext cx="7026643" cy="51435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7" name="Shape 937"/>
        <p:cNvGrpSpPr/>
        <p:nvPr/>
      </p:nvGrpSpPr>
      <p:grpSpPr>
        <a:xfrm>
          <a:off x="0" y="0"/>
          <a:ext cx="0" cy="0"/>
          <a:chOff x="0" y="0"/>
          <a:chExt cx="0" cy="0"/>
        </a:xfrm>
      </p:grpSpPr>
      <p:pic>
        <p:nvPicPr>
          <p:cNvPr id="938" name="Google Shape;938;p156"/>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2" name="Shape 942"/>
        <p:cNvGrpSpPr/>
        <p:nvPr/>
      </p:nvGrpSpPr>
      <p:grpSpPr>
        <a:xfrm>
          <a:off x="0" y="0"/>
          <a:ext cx="0" cy="0"/>
          <a:chOff x="0" y="0"/>
          <a:chExt cx="0" cy="0"/>
        </a:xfrm>
      </p:grpSpPr>
      <p:pic>
        <p:nvPicPr>
          <p:cNvPr id="943" name="Google Shape;943;p157"/>
          <p:cNvPicPr preferRelativeResize="0"/>
          <p:nvPr/>
        </p:nvPicPr>
        <p:blipFill>
          <a:blip r:embed="rId3">
            <a:alphaModFix/>
          </a:blip>
          <a:stretch>
            <a:fillRect/>
          </a:stretch>
        </p:blipFill>
        <p:spPr>
          <a:xfrm>
            <a:off x="967388" y="152400"/>
            <a:ext cx="7209213" cy="48387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47" name="Shape 947"/>
        <p:cNvGrpSpPr/>
        <p:nvPr/>
      </p:nvGrpSpPr>
      <p:grpSpPr>
        <a:xfrm>
          <a:off x="0" y="0"/>
          <a:ext cx="0" cy="0"/>
          <a:chOff x="0" y="0"/>
          <a:chExt cx="0" cy="0"/>
        </a:xfrm>
      </p:grpSpPr>
      <p:sp>
        <p:nvSpPr>
          <p:cNvPr id="948" name="Google Shape;948;p158"/>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58"/>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58"/>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Consolas"/>
              <a:ea typeface="Consolas"/>
              <a:cs typeface="Consolas"/>
              <a:sym typeface="Consolas"/>
            </a:endParaRPr>
          </a:p>
        </p:txBody>
      </p:sp>
      <p:pic>
        <p:nvPicPr>
          <p:cNvPr id="951" name="Google Shape;951;p158"/>
          <p:cNvPicPr preferRelativeResize="0"/>
          <p:nvPr/>
        </p:nvPicPr>
        <p:blipFill>
          <a:blip r:embed="rId3">
            <a:alphaModFix/>
          </a:blip>
          <a:stretch>
            <a:fillRect/>
          </a:stretch>
        </p:blipFill>
        <p:spPr>
          <a:xfrm>
            <a:off x="605900" y="1982081"/>
            <a:ext cx="2445800" cy="117938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55" name="Shape 955"/>
        <p:cNvGrpSpPr/>
        <p:nvPr/>
      </p:nvGrpSpPr>
      <p:grpSpPr>
        <a:xfrm>
          <a:off x="0" y="0"/>
          <a:ext cx="0" cy="0"/>
          <a:chOff x="0" y="0"/>
          <a:chExt cx="0" cy="0"/>
        </a:xfrm>
      </p:grpSpPr>
      <p:sp>
        <p:nvSpPr>
          <p:cNvPr id="956" name="Google Shape;956;p159"/>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59"/>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59"/>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void meow(void)</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printf("meow\n");</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59" name="Google Shape;959;p159"/>
          <p:cNvPicPr preferRelativeResize="0"/>
          <p:nvPr/>
        </p:nvPicPr>
        <p:blipFill>
          <a:blip r:embed="rId3">
            <a:alphaModFix/>
          </a:blip>
          <a:stretch>
            <a:fillRect/>
          </a:stretch>
        </p:blipFill>
        <p:spPr>
          <a:xfrm>
            <a:off x="605900" y="1982081"/>
            <a:ext cx="2445800" cy="117938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63" name="Shape 963"/>
        <p:cNvGrpSpPr/>
        <p:nvPr/>
      </p:nvGrpSpPr>
      <p:grpSpPr>
        <a:xfrm>
          <a:off x="0" y="0"/>
          <a:ext cx="0" cy="0"/>
          <a:chOff x="0" y="0"/>
          <a:chExt cx="0" cy="0"/>
        </a:xfrm>
      </p:grpSpPr>
      <p:sp>
        <p:nvSpPr>
          <p:cNvPr id="964" name="Google Shape;964;p160"/>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60"/>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60"/>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Consolas"/>
              <a:ea typeface="Consolas"/>
              <a:cs typeface="Consolas"/>
              <a:sym typeface="Consolas"/>
            </a:endParaRPr>
          </a:p>
        </p:txBody>
      </p:sp>
      <p:pic>
        <p:nvPicPr>
          <p:cNvPr id="967" name="Google Shape;967;p160"/>
          <p:cNvPicPr preferRelativeResize="0"/>
          <p:nvPr/>
        </p:nvPicPr>
        <p:blipFill>
          <a:blip r:embed="rId3">
            <a:alphaModFix/>
          </a:blip>
          <a:stretch>
            <a:fillRect/>
          </a:stretch>
        </p:blipFill>
        <p:spPr>
          <a:xfrm>
            <a:off x="855938" y="1376738"/>
            <a:ext cx="1945725" cy="238971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71" name="Shape 971"/>
        <p:cNvGrpSpPr/>
        <p:nvPr/>
      </p:nvGrpSpPr>
      <p:grpSpPr>
        <a:xfrm>
          <a:off x="0" y="0"/>
          <a:ext cx="0" cy="0"/>
          <a:chOff x="0" y="0"/>
          <a:chExt cx="0" cy="0"/>
        </a:xfrm>
      </p:grpSpPr>
      <p:sp>
        <p:nvSpPr>
          <p:cNvPr id="972" name="Google Shape;972;p161"/>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61"/>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61"/>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Consolas"/>
                <a:ea typeface="Consolas"/>
                <a:cs typeface="Consolas"/>
                <a:sym typeface="Consolas"/>
              </a:rPr>
              <a:t>int main(void)</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for (int i = 0; i &lt; 3; i++)</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meow();</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    }</a:t>
            </a:r>
            <a:endParaRPr sz="1800">
              <a:solidFill>
                <a:srgbClr val="FFFFFF"/>
              </a:solidFill>
              <a:latin typeface="Consolas"/>
              <a:ea typeface="Consolas"/>
              <a:cs typeface="Consolas"/>
              <a:sym typeface="Consolas"/>
            </a:endParaRPr>
          </a:p>
          <a:p>
            <a:pPr indent="0" lvl="0" marL="0" rtl="0" algn="l">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75" name="Google Shape;975;p161"/>
          <p:cNvPicPr preferRelativeResize="0"/>
          <p:nvPr/>
        </p:nvPicPr>
        <p:blipFill>
          <a:blip r:embed="rId3">
            <a:alphaModFix/>
          </a:blip>
          <a:stretch>
            <a:fillRect/>
          </a:stretch>
        </p:blipFill>
        <p:spPr>
          <a:xfrm>
            <a:off x="855938" y="1376738"/>
            <a:ext cx="1945725" cy="2389716"/>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79" name="Shape 979"/>
        <p:cNvGrpSpPr/>
        <p:nvPr/>
      </p:nvGrpSpPr>
      <p:grpSpPr>
        <a:xfrm>
          <a:off x="0" y="0"/>
          <a:ext cx="0" cy="0"/>
          <a:chOff x="0" y="0"/>
          <a:chExt cx="0" cy="0"/>
        </a:xfrm>
      </p:grpSpPr>
      <p:sp>
        <p:nvSpPr>
          <p:cNvPr id="980" name="Google Shape;980;p162"/>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62"/>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62"/>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Consolas"/>
              <a:ea typeface="Consolas"/>
              <a:cs typeface="Consolas"/>
              <a:sym typeface="Consolas"/>
            </a:endParaRPr>
          </a:p>
        </p:txBody>
      </p:sp>
      <p:pic>
        <p:nvPicPr>
          <p:cNvPr id="983" name="Google Shape;983;p162"/>
          <p:cNvPicPr preferRelativeResize="0"/>
          <p:nvPr/>
        </p:nvPicPr>
        <p:blipFill>
          <a:blip r:embed="rId3">
            <a:alphaModFix/>
          </a:blip>
          <a:stretch>
            <a:fillRect/>
          </a:stretch>
        </p:blipFill>
        <p:spPr>
          <a:xfrm>
            <a:off x="605900" y="1613113"/>
            <a:ext cx="2445800" cy="1916979"/>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87" name="Shape 987"/>
        <p:cNvGrpSpPr/>
        <p:nvPr/>
      </p:nvGrpSpPr>
      <p:grpSpPr>
        <a:xfrm>
          <a:off x="0" y="0"/>
          <a:ext cx="0" cy="0"/>
          <a:chOff x="0" y="0"/>
          <a:chExt cx="0" cy="0"/>
        </a:xfrm>
      </p:grpSpPr>
      <p:sp>
        <p:nvSpPr>
          <p:cNvPr id="988" name="Google Shape;988;p163"/>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63"/>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63"/>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void meow(int n)</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for (int i = 0; i &lt; n; i++)</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printf("meow\n");</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91" name="Google Shape;991;p163"/>
          <p:cNvPicPr preferRelativeResize="0"/>
          <p:nvPr/>
        </p:nvPicPr>
        <p:blipFill>
          <a:blip r:embed="rId3">
            <a:alphaModFix/>
          </a:blip>
          <a:stretch>
            <a:fillRect/>
          </a:stretch>
        </p:blipFill>
        <p:spPr>
          <a:xfrm>
            <a:off x="605900" y="1613113"/>
            <a:ext cx="2445800" cy="1916979"/>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995" name="Shape 995"/>
        <p:cNvGrpSpPr/>
        <p:nvPr/>
      </p:nvGrpSpPr>
      <p:grpSpPr>
        <a:xfrm>
          <a:off x="0" y="0"/>
          <a:ext cx="0" cy="0"/>
          <a:chOff x="0" y="0"/>
          <a:chExt cx="0" cy="0"/>
        </a:xfrm>
      </p:grpSpPr>
      <p:sp>
        <p:nvSpPr>
          <p:cNvPr id="996" name="Google Shape;996;p164"/>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64"/>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64"/>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Consolas"/>
              <a:ea typeface="Consolas"/>
              <a:cs typeface="Consolas"/>
              <a:sym typeface="Consolas"/>
            </a:endParaRPr>
          </a:p>
        </p:txBody>
      </p:sp>
      <p:pic>
        <p:nvPicPr>
          <p:cNvPr id="999" name="Google Shape;999;p164"/>
          <p:cNvPicPr preferRelativeResize="0"/>
          <p:nvPr/>
        </p:nvPicPr>
        <p:blipFill>
          <a:blip r:embed="rId3">
            <a:alphaModFix/>
          </a:blip>
          <a:stretch>
            <a:fillRect/>
          </a:stretch>
        </p:blipFill>
        <p:spPr>
          <a:xfrm>
            <a:off x="914400" y="1858538"/>
            <a:ext cx="1828800" cy="142646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1003" name="Shape 1003"/>
        <p:cNvGrpSpPr/>
        <p:nvPr/>
      </p:nvGrpSpPr>
      <p:grpSpPr>
        <a:xfrm>
          <a:off x="0" y="0"/>
          <a:ext cx="0" cy="0"/>
          <a:chOff x="0" y="0"/>
          <a:chExt cx="0" cy="0"/>
        </a:xfrm>
      </p:grpSpPr>
      <p:sp>
        <p:nvSpPr>
          <p:cNvPr id="1004" name="Google Shape;1004;p165"/>
          <p:cNvSpPr/>
          <p:nvPr/>
        </p:nvSpPr>
        <p:spPr>
          <a:xfrm>
            <a:off x="3657600" y="-150"/>
            <a:ext cx="5486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65"/>
          <p:cNvSpPr/>
          <p:nvPr/>
        </p:nvSpPr>
        <p:spPr>
          <a:xfrm>
            <a:off x="0" y="-150"/>
            <a:ext cx="3657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65"/>
          <p:cNvSpPr txBox="1"/>
          <p:nvPr/>
        </p:nvSpPr>
        <p:spPr>
          <a:xfrm>
            <a:off x="4150650" y="1692463"/>
            <a:ext cx="4500300" cy="175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int main(void)</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    meow(3);</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1007" name="Google Shape;1007;p165"/>
          <p:cNvPicPr preferRelativeResize="0"/>
          <p:nvPr/>
        </p:nvPicPr>
        <p:blipFill>
          <a:blip r:embed="rId3">
            <a:alphaModFix/>
          </a:blip>
          <a:stretch>
            <a:fillRect/>
          </a:stretch>
        </p:blipFill>
        <p:spPr>
          <a:xfrm>
            <a:off x="914400" y="1858538"/>
            <a:ext cx="1828800" cy="1426464"/>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6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comments</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6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scope</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16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correctness, design, style</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6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check50</a:t>
            </a:r>
            <a:r>
              <a:rPr lang="en"/>
              <a:t>, </a:t>
            </a:r>
            <a:r>
              <a:rPr lang="en">
                <a:latin typeface="Consolas"/>
                <a:ea typeface="Consolas"/>
                <a:cs typeface="Consolas"/>
                <a:sym typeface="Consolas"/>
              </a:rPr>
              <a:t>design50</a:t>
            </a:r>
            <a:r>
              <a:rPr lang="en"/>
              <a:t>, </a:t>
            </a:r>
            <a:r>
              <a:rPr lang="en">
                <a:latin typeface="Consolas"/>
                <a:ea typeface="Consolas"/>
                <a:cs typeface="Consolas"/>
                <a:sym typeface="Consolas"/>
              </a:rPr>
              <a:t>style50</a:t>
            </a:r>
            <a:endParaRPr>
              <a:latin typeface="Consolas"/>
              <a:ea typeface="Consolas"/>
              <a:cs typeface="Consolas"/>
              <a:sym typeface="Consola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170"/>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7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function</a:t>
            </a:r>
            <a:endParaRPr sz="2900"/>
          </a:p>
        </p:txBody>
      </p:sp>
      <p:sp>
        <p:nvSpPr>
          <p:cNvPr id="1034" name="Google Shape;1034;p170"/>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1035" name="Google Shape;1035;p170"/>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side effects</a:t>
            </a:r>
            <a:endParaRPr sz="2900">
              <a:solidFill>
                <a:srgbClr val="FFFFFF"/>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pic>
        <p:nvPicPr>
          <p:cNvPr id="1040" name="Google Shape;1040;p171"/>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pic>
        <p:nvPicPr>
          <p:cNvPr id="1045" name="Google Shape;1045;p172"/>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pic>
        <p:nvPicPr>
          <p:cNvPr id="1050" name="Google Shape;1050;p17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pic>
        <p:nvPicPr>
          <p:cNvPr id="1055" name="Google Shape;1055;p174"/>
          <p:cNvPicPr preferRelativeResize="0"/>
          <p:nvPr/>
        </p:nvPicPr>
        <p:blipFill>
          <a:blip r:embed="rId3">
            <a:alphaModFix/>
          </a:blip>
          <a:stretch>
            <a:fillRect/>
          </a:stretch>
        </p:blipFill>
        <p:spPr>
          <a:xfrm>
            <a:off x="0" y="0"/>
            <a:ext cx="9143978" cy="51435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pic>
        <p:nvPicPr>
          <p:cNvPr id="1060" name="Google Shape;1060;p175"/>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pic>
        <p:nvPicPr>
          <p:cNvPr id="1065" name="Google Shape;1065;p176"/>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pic>
        <p:nvPicPr>
          <p:cNvPr id="1070" name="Google Shape;1070;p177"/>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7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constants</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79"/>
          <p:cNvSpPr/>
          <p:nvPr/>
        </p:nvSpPr>
        <p:spPr>
          <a:xfrm>
            <a:off x="3209457" y="1232100"/>
            <a:ext cx="2676600" cy="2679300"/>
          </a:xfrm>
          <a:prstGeom prst="rect">
            <a:avLst/>
          </a:prstGeom>
          <a:no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79"/>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t>function</a:t>
            </a:r>
            <a:endParaRPr sz="2900"/>
          </a:p>
        </p:txBody>
      </p:sp>
      <p:sp>
        <p:nvSpPr>
          <p:cNvPr id="1082" name="Google Shape;1082;p179"/>
          <p:cNvSpPr txBox="1"/>
          <p:nvPr/>
        </p:nvSpPr>
        <p:spPr>
          <a:xfrm>
            <a:off x="82525" y="2195550"/>
            <a:ext cx="3126900" cy="75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1083" name="Google Shape;1083;p179"/>
          <p:cNvSpPr txBox="1"/>
          <p:nvPr/>
        </p:nvSpPr>
        <p:spPr>
          <a:xfrm>
            <a:off x="5886047" y="2195550"/>
            <a:ext cx="32580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FFFFFF"/>
                </a:solidFill>
              </a:rPr>
              <a:t> → </a:t>
            </a:r>
            <a:r>
              <a:rPr lang="en" sz="2900">
                <a:solidFill>
                  <a:srgbClr val="FFFFFF"/>
                </a:solidFill>
              </a:rPr>
              <a:t>return value</a:t>
            </a:r>
            <a:endParaRPr sz="2900">
              <a:solidFill>
                <a:srgbClr val="FFFFFF"/>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180"/>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indent="0" lvl="0" marL="0" rtl="0" algn="l">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8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integer overflow</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7" name="Shape 1097"/>
        <p:cNvGrpSpPr/>
        <p:nvPr/>
      </p:nvGrpSpPr>
      <p:grpSpPr>
        <a:xfrm>
          <a:off x="0" y="0"/>
          <a:ext cx="0" cy="0"/>
          <a:chOff x="0" y="0"/>
          <a:chExt cx="0" cy="0"/>
        </a:xfrm>
      </p:grpSpPr>
      <p:pic>
        <p:nvPicPr>
          <p:cNvPr id="1098" name="Google Shape;1098;p182"/>
          <p:cNvPicPr preferRelativeResize="0"/>
          <p:nvPr/>
        </p:nvPicPr>
        <p:blipFill>
          <a:blip r:embed="rId3">
            <a:alphaModFix/>
          </a:blip>
          <a:stretch>
            <a:fillRect/>
          </a:stretch>
        </p:blipFill>
        <p:spPr>
          <a:xfrm>
            <a:off x="152400" y="152400"/>
            <a:ext cx="8602134" cy="4838701"/>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83"/>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000</a:t>
            </a:r>
            <a:endParaRPr sz="9600">
              <a:solidFill>
                <a:srgbClr val="FFFFFF"/>
              </a:solidFill>
              <a:latin typeface="Consolas"/>
              <a:ea typeface="Consolas"/>
              <a:cs typeface="Consolas"/>
              <a:sym typeface="Consola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84"/>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001</a:t>
            </a:r>
            <a:endParaRPr sz="9600">
              <a:solidFill>
                <a:srgbClr val="FFFFFF"/>
              </a:solidFill>
              <a:latin typeface="Consolas"/>
              <a:ea typeface="Consolas"/>
              <a:cs typeface="Consolas"/>
              <a:sym typeface="Consola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85"/>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010</a:t>
            </a:r>
            <a:endParaRPr sz="9600">
              <a:solidFill>
                <a:srgbClr val="FFFFFF"/>
              </a:solidFill>
              <a:latin typeface="Consolas"/>
              <a:ea typeface="Consolas"/>
              <a:cs typeface="Consolas"/>
              <a:sym typeface="Consola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86"/>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011</a:t>
            </a:r>
            <a:endParaRPr sz="9600">
              <a:solidFill>
                <a:srgbClr val="FFFFFF"/>
              </a:solidFill>
              <a:latin typeface="Consolas"/>
              <a:ea typeface="Consolas"/>
              <a:cs typeface="Consolas"/>
              <a:sym typeface="Consola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87"/>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100</a:t>
            </a:r>
            <a:endParaRPr sz="9600">
              <a:solidFill>
                <a:srgbClr val="FFFFFF"/>
              </a:solidFill>
              <a:latin typeface="Consolas"/>
              <a:ea typeface="Consolas"/>
              <a:cs typeface="Consolas"/>
              <a:sym typeface="Consolas"/>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88"/>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101</a:t>
            </a:r>
            <a:endParaRPr sz="9600">
              <a:solidFill>
                <a:srgbClr val="FFFFFF"/>
              </a:solidFill>
              <a:latin typeface="Consolas"/>
              <a:ea typeface="Consolas"/>
              <a:cs typeface="Consolas"/>
              <a:sym typeface="Consolas"/>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89"/>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110</a:t>
            </a:r>
            <a:endParaRPr sz="9600">
              <a:solidFill>
                <a:srgbClr val="FFFFFF"/>
              </a:solidFill>
              <a:latin typeface="Consolas"/>
              <a:ea typeface="Consolas"/>
              <a:cs typeface="Consolas"/>
              <a:sym typeface="Consola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90"/>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0</a:t>
            </a:r>
            <a:r>
              <a:rPr lang="en" sz="9600">
                <a:solidFill>
                  <a:srgbClr val="FFFFFF"/>
                </a:solidFill>
                <a:latin typeface="Consolas"/>
                <a:ea typeface="Consolas"/>
                <a:cs typeface="Consolas"/>
                <a:sym typeface="Consolas"/>
              </a:rPr>
              <a:t>111</a:t>
            </a:r>
            <a:endParaRPr sz="9600">
              <a:solidFill>
                <a:srgbClr val="FFFFFF"/>
              </a:solidFill>
              <a:latin typeface="Consolas"/>
              <a:ea typeface="Consolas"/>
              <a:cs typeface="Consolas"/>
              <a:sym typeface="Consola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191"/>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FF0000"/>
                </a:solidFill>
                <a:latin typeface="Consolas"/>
                <a:ea typeface="Consolas"/>
                <a:cs typeface="Consolas"/>
                <a:sym typeface="Consolas"/>
              </a:rPr>
              <a:t>1</a:t>
            </a:r>
            <a:r>
              <a:rPr lang="en" sz="9600">
                <a:solidFill>
                  <a:srgbClr val="FFFFFF"/>
                </a:solidFill>
                <a:latin typeface="Consolas"/>
                <a:ea typeface="Consolas"/>
                <a:cs typeface="Consolas"/>
                <a:sym typeface="Consolas"/>
              </a:rPr>
              <a:t>000</a:t>
            </a:r>
            <a:endParaRPr sz="9600">
              <a:solidFill>
                <a:srgbClr val="FFFFFF"/>
              </a:solidFill>
              <a:latin typeface="Consolas"/>
              <a:ea typeface="Consolas"/>
              <a:cs typeface="Consolas"/>
              <a:sym typeface="Consola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92"/>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latin typeface="Consolas"/>
                <a:ea typeface="Consolas"/>
                <a:cs typeface="Consolas"/>
                <a:sym typeface="Consolas"/>
              </a:rPr>
              <a:t>1</a:t>
            </a:r>
            <a:r>
              <a:rPr lang="en" sz="9600">
                <a:solidFill>
                  <a:srgbClr val="FFFFFF"/>
                </a:solidFill>
                <a:latin typeface="Consolas"/>
                <a:ea typeface="Consolas"/>
                <a:cs typeface="Consolas"/>
                <a:sym typeface="Consolas"/>
              </a:rPr>
              <a:t>000</a:t>
            </a:r>
            <a:endParaRPr sz="9600">
              <a:solidFill>
                <a:srgbClr val="FFFFFF"/>
              </a:solidFill>
              <a:latin typeface="Consolas"/>
              <a:ea typeface="Consolas"/>
              <a:cs typeface="Consolas"/>
              <a:sym typeface="Consola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pic>
        <p:nvPicPr>
          <p:cNvPr id="1153" name="Google Shape;1153;p193"/>
          <p:cNvPicPr preferRelativeResize="0"/>
          <p:nvPr/>
        </p:nvPicPr>
        <p:blipFill>
          <a:blip r:embed="rId3">
            <a:alphaModFix/>
          </a:blip>
          <a:stretch>
            <a:fillRect/>
          </a:stretch>
        </p:blipFill>
        <p:spPr>
          <a:xfrm>
            <a:off x="485775" y="0"/>
            <a:ext cx="8172444"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pic>
        <p:nvPicPr>
          <p:cNvPr id="1158" name="Google Shape;1158;p194"/>
          <p:cNvPicPr preferRelativeResize="0"/>
          <p:nvPr/>
        </p:nvPicPr>
        <p:blipFill>
          <a:blip r:embed="rId3">
            <a:alphaModFix/>
          </a:blip>
          <a:stretch>
            <a:fillRect/>
          </a:stretch>
        </p:blipFill>
        <p:spPr>
          <a:xfrm>
            <a:off x="2713700" y="0"/>
            <a:ext cx="3716592" cy="5143500"/>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9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truncation</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9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floating-point imprecision</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9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Year 2000 Problem</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98"/>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chemeClr val="dk1"/>
                </a:solidFill>
                <a:latin typeface="Consolas"/>
                <a:ea typeface="Consolas"/>
                <a:cs typeface="Consolas"/>
                <a:sym typeface="Consolas"/>
              </a:rPr>
              <a:t>1999</a:t>
            </a:r>
            <a:endParaRPr sz="9600">
              <a:solidFill>
                <a:schemeClr val="dk1"/>
              </a:solidFill>
              <a:latin typeface="Consolas"/>
              <a:ea typeface="Consolas"/>
              <a:cs typeface="Consolas"/>
              <a:sym typeface="Consola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99"/>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Consolas"/>
                <a:ea typeface="Consolas"/>
                <a:cs typeface="Consolas"/>
                <a:sym typeface="Consolas"/>
              </a:rPr>
              <a:t>19</a:t>
            </a:r>
            <a:r>
              <a:rPr lang="en" sz="9600">
                <a:solidFill>
                  <a:schemeClr val="dk1"/>
                </a:solidFill>
                <a:latin typeface="Consolas"/>
                <a:ea typeface="Consolas"/>
                <a:cs typeface="Consolas"/>
                <a:sym typeface="Consolas"/>
              </a:rPr>
              <a:t>99</a:t>
            </a:r>
            <a:endParaRPr sz="9600">
              <a:solidFill>
                <a:schemeClr val="dk1"/>
              </a:solidFill>
              <a:latin typeface="Consolas"/>
              <a:ea typeface="Consolas"/>
              <a:cs typeface="Consolas"/>
              <a:sym typeface="Consola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200"/>
          <p:cNvSpPr txBox="1"/>
          <p:nvPr/>
        </p:nvSpPr>
        <p:spPr>
          <a:xfrm>
            <a:off x="2410950" y="1780500"/>
            <a:ext cx="4322100" cy="158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Consolas"/>
                <a:ea typeface="Consolas"/>
                <a:cs typeface="Consolas"/>
                <a:sym typeface="Consolas"/>
              </a:rPr>
              <a:t>19</a:t>
            </a:r>
            <a:r>
              <a:rPr lang="en" sz="9600">
                <a:solidFill>
                  <a:schemeClr val="dk1"/>
                </a:solidFill>
                <a:latin typeface="Consolas"/>
                <a:ea typeface="Consolas"/>
                <a:cs typeface="Consolas"/>
                <a:sym typeface="Consolas"/>
              </a:rPr>
              <a:t>00</a:t>
            </a:r>
            <a:endParaRPr sz="9600">
              <a:solidFill>
                <a:schemeClr val="dk1"/>
              </a:solidFill>
              <a:latin typeface="Consolas"/>
              <a:ea typeface="Consolas"/>
              <a:cs typeface="Consolas"/>
              <a:sym typeface="Consola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20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Year 2038 Problem</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20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19 January 2038</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0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13 December 1901</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20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19 January 2038</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pic>
        <p:nvPicPr>
          <p:cNvPr id="1213" name="Google Shape;1213;p205"/>
          <p:cNvPicPr preferRelativeResize="0"/>
          <p:nvPr/>
        </p:nvPicPr>
        <p:blipFill>
          <a:blip r:embed="rId3">
            <a:alphaModFix/>
          </a:blip>
          <a:stretch>
            <a:fillRect/>
          </a:stretch>
        </p:blipFill>
        <p:spPr>
          <a:xfrm>
            <a:off x="2000250" y="0"/>
            <a:ext cx="5143500" cy="514350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pic>
        <p:nvPicPr>
          <p:cNvPr id="1218" name="Google Shape;1218;p206"/>
          <p:cNvPicPr preferRelativeResize="0"/>
          <p:nvPr/>
        </p:nvPicPr>
        <p:blipFill>
          <a:blip r:embed="rId3">
            <a:alphaModFix/>
          </a:blip>
          <a:stretch>
            <a:fillRect/>
          </a:stretch>
        </p:blipFill>
        <p:spPr>
          <a:xfrm>
            <a:off x="-12"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