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098631F-C65F-47B5-8536-6FE3CD0505C6}">
  <a:tblStyle styleId="{2098631F-C65F-47B5-8536-6FE3CD0505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orms.gle/yBEtybhy6VRRhMoU6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apple/ios-18.4/selfie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cxhPm4DSar6J8Yh1yMBEPQ0ihA6s3RuCUdVygr-3wB6jR4Rg/viewform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9ZnfIZxxgV2pAYcFI3FWoCgpVqodEEgMm_2h5YbKlcw/edit?usp=sharing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xHMuAMvCXg8VdQgouRKOvHcfhaVnRlagPvJggP6b7js/edit?usp=sharing" TargetMode="External"/><Relationship Id="rId3" Type="http://schemas.openxmlformats.org/officeDocument/2006/relationships/hyperlink" Target="https://docs.google.com/spreadsheets/d/1LC3TnmaqbNdBvf_yR3NdzCxsQrOWqHRKuOS-AC0lerI/edit?usp=sharing" TargetMode="External"/><Relationship Id="rId4" Type="http://schemas.openxmlformats.org/officeDocument/2006/relationships/hyperlink" Target="https://docs.google.com/spreadsheets/d/1oWDAyD1yQd7pKc_U4Xa9ylt0zW2Juv7TXThSu8OZazA/edit?usp=sharing" TargetMode="Externa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instagram.com/p/CmUv48DLvxd/" TargetMode="Externa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xkcd.com/327/" TargetMode="Externa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726aa6700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726aa6700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b3c3b7d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b3c3b7d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b4e9944f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0b4e9944f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56b02730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56b02730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https://forms.gle/yBEtybhy6VRRhMoU6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94ab6f896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94ab6f896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https://emojipedia.org/apple/ios-18.4/selfie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656b02730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656b02730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https://docs.google.com/forms/d/e/1FAIpQLScxhPm4DSar6J8Yh1yMBEPQ0ihA6s3RuCUdVygr-3wB6jR4Rg/viewform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56b02730f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656b02730f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https://docs.google.com/spreadsheets/d/19ZnfIZxxgV2pAYcFI3FWoCgpVqodEEgMm_2h5YbKlcw/edit?usp=sharing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656b02730f_1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656b02730f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3e0bd9f2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3e0bd9f2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favorites{0,1,2,3,4}.py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94ab6f8964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94ab6f896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favorites{5,6,7,8}.py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a3e0bd9f2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a3e0bd9f2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656b02730f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656b02730f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656b02730f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656b02730f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656b02730f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656b02730f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b4e9944f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b4e9944f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656b02730f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656b02730f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0b4e9944f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0b4e9944f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b4e9944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b4e9944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a3e0bd9f2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a3e0bd9f2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82da9ab1cbbaab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82da9ab1cbbaab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f750c39d9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f750c39d9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94ab6f896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94ab6f896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favorites.csv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3e0bd9f2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3e0bd9f2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f7562e1027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f7562e1027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/>
              <a:t>SELECT * FROM favorites;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"/>
              <a:t>SELECT language FROM favorites;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f7562e1027_1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f7562e1027_1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DISTINCT language FROM favorites;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100"/>
              <a:buChar char="●"/>
            </a:pPr>
            <a:r>
              <a:rPr lang="en"/>
              <a:t>SELECT COUNT(DISTINCT language) FROM favorites;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f7562e1027_1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f7562e1027_1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problem = 'Hello, World';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(problem = 'Hello, World' OR problem = 'Hello, It''s Me');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COUNT(*) FROM favorites WHERE language = 'C' AND problem LIKE 'Hello, %';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0b4e9944f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0b4e9944f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language, COUNT(*) FROM favorites GROUP BY language;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0b4e9944f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0b4e9944f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b4e9944f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0b4e9944f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b4e9944f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b4e9944f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b4e9944f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0b4e9944f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0b4e9944fb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0b4e9944fb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FROM favorites GROUP BY language ORDER BY COUNT(*) DESC;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AS n FROM favorites GROUP BY language ORDER BY n DESC;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language, COUNT(*) AS n FROM favorites GROUP BY language ORDER BY n DESC LIMIT 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a3e0bd9f2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a3e0bd9f2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INSERT INTO favorites (language, problem) VALUES('SQL', 'Fiftyville');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favorites;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94ab6f8964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94ab6f8964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f750c39d9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f750c39d9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DELETE FROM favorites WHERE Timestamp IS NULL;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f750c39d9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f750c39d9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UPDATE favorites SET language = 'SQL', problem = 'Fiftyville';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favorites;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DELETE FROM favorites;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favorites;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726aa6700f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726aa6700f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https://docs.google.com/spreadsheets/d/1xHMuAMvCXg8VdQgouRKOvHcfhaVnRlagPvJggP6b7js/edit?usp=sharing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https://docs.google.com/spreadsheets/d/1LC3TnmaqbNdBvf_yR3NdzCxsQrOWqHRKuOS-AC0lerI/edit?usp=sharing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https://docs.google.com/spreadsheets/d/1oWDAyD1yQd7pKc_U4Xa9ylt0zW2Juv7TXThSu8OZazA/edit?usp=sharing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94ab6f8964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94ab6f8964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b3da2e1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b3da2e1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shows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LIMIT 10;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94ab6f8964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94ab6f8964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ratings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ratings LIMIT 10;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94ab6f8964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94ab6f8964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94ab6f8964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94ab6f8964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94ab6f8964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94ab6f8964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94ab6f8964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94ab6f8964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ratings WHERE rating &gt;= 6.0 LIMIT 10;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show_id FROM ratings WHERE rating &gt;= 6.0 LIMIT 10;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* FROM shows WHERE id IN (SELECT show_id FROM ratings WHERE rating &gt;= 6.0) LIMIT 10;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SELECT title FROM shows WHERE id IN (SELECT show_id FROM ratings WHERE rating &gt;= 6.0) LIMIT 10;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94ab6f8964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94ab6f8964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94ab6f896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94ab6f896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94ab6f8964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94ab6f8964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94ab6f8964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94ab6f8964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*  FROM shows JOIN ratings ON shows.id = ratings.show_id WHERE rating &gt;= 6.0 LIMIT 10;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94ab6f8964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94ab6f8964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94ab6f8964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94ab6f8964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94ab6f8964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94ab6f8964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title, rating FROM shows JOIN ratings ON shows.id = ratings.show_id WHERE rating &gt;= 6.0 LIMIT 10;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94ab6f8964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294ab6f8964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94ab6f8964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94ab6f8964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.schema genres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genres LIMIT 10;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id = 63881;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94ab6f8964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94ab6f8964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genre FROM genres WHERE show_id = 63881;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genre FROM genres WHERE show_id = (SELECT id FROM shows WHERE title = 'Catweazle');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94ab6f8964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94ab6f8964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94ab6f8964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94ab6f8964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94ab6f8964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94ab6f8964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* FROM shows JOIN genres ON shows.id = genres.show_id WHERE id = 63881;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94ab6f8964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94ab6f8964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94ab6f8964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94ab6f8964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94ab6f8964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94ab6f8964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94ab6f8964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94ab6f8964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title, genre FROM shows JOIN genres ON shows.id = genres.show_id WHERE id = 63881;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94ab6f8964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94ab6f8964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genre FROM shows JOIN genres ON shows.id = genres.show_id WHERE id = 63881;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94ab6f8964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94ab6f8964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94ab6f8964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94ab6f8964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94ab6f8964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94ab6f8964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 AND year = 2005;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name FROM people WHERE id IN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person_id FROM stars WHERE show_id =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id FROM shows WHERE title = 'The Office' AND year = 2005));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JOIN stars ON shows.id = stars.show_id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JOIN people ON stars.person_id = people.id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WHERE name = 'Steve Carell';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shows, stars, people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WHERE shows.id = stars.show_id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people.id = stars.person_id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name = 'Steve Carell';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94ab6f8964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94ab6f8964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.schema writers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656b02730f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656b02730f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.timer 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a3e0bd9f2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a3e0bd9f2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CREATE INDEX title_index ON shows (title);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* FROM shows WHERE title = 'The Office';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656b02730f_1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656b02730f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656b02730f_1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656b02730f_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shows, stars, people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shows.id = stars.show_id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people.id = stars.person_id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name = 'Steve Carell';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CREATE INDEX name_index ON people (name);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CREATE INDEX person_index ON stars (person_id);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title FROM shows WHERE id IN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(SELECT show_id FROM stars WHERE person_id =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(SELECT id FROM people WHERE name = 'Steve Carell'));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726aa6700f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726aa6700f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726aa6700f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726aa6700f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favorites9.py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9b6632918e_9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9b6632918e_9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9b6632918e_99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9b6632918e_99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9b6632918e_99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9b6632918e_99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9b6632918e_99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9b6632918e_99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b6632918e_99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9b6632918e_99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9b6632918e_99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9b6632918e_99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9b6632918e_99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9b6632918e_99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9b6632918e_99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9b6632918e_99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9b6632918e_99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9b6632918e_99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b6632918e_99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9b6632918e_99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9b6632918e_99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9b6632918e_99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9b6632918e_99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9b6632918e_99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46aa91968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46aa91968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MILK STORY (lock or note)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0b4e9944f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0b4e9944f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https://www.instagram.com/p/CmUv48DLvxd/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656b02730f_1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656b02730f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46aa91968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46aa91968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a3e0bd9f2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a3e0bd9f2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9b6632918e_99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9b6632918e_99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726aa6700f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726aa6700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726aa6700f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726aa6700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1726aa6700f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1726aa6700f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https://xkcd.com/327/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1726aa6700f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1726aa6700f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s50.ly/lunch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s50.ly/favorite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hyperlink" Target="https://cs50.readthedocs.io/libraries/cs50/python/#cs50.SQL" TargetMode="Externa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0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9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1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Today's snack</a:t>
            </a:r>
            <a:r>
              <a:rPr lang="en" sz="1700">
                <a:solidFill>
                  <a:schemeClr val="dk1"/>
                </a:solidFill>
              </a:rPr>
              <a:t>, Halloween candy. 🎃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If you'd like to attend CS50's Family Lunch this Fri 10/17 at 1:15pm, </a:t>
            </a:r>
            <a:br>
              <a:rPr lang="en" sz="1700">
                <a:solidFill>
                  <a:schemeClr val="dk1"/>
                </a:solidFill>
              </a:rPr>
            </a:br>
            <a:r>
              <a:rPr lang="en" sz="1700">
                <a:solidFill>
                  <a:schemeClr val="dk1"/>
                </a:solidFill>
              </a:rPr>
              <a:t>RSVP at </a:t>
            </a:r>
            <a:r>
              <a:rPr lang="en" sz="1700">
                <a:solidFill>
                  <a:srgbClr val="FFFF0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cs50.ly/lunch</a:t>
            </a:r>
            <a:r>
              <a:rPr lang="en" sz="1700">
                <a:solidFill>
                  <a:schemeClr val="dk1"/>
                </a:solidFill>
              </a:rPr>
              <a:t>.</a:t>
            </a:r>
            <a:r>
              <a:rPr lang="en" sz="1700">
                <a:solidFill>
                  <a:schemeClr val="dk1"/>
                </a:solidFill>
              </a:rPr>
              <a:t> Aok to attend with or without family members!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Do </a:t>
            </a:r>
            <a:r>
              <a:rPr lang="en" sz="1700">
                <a:solidFill>
                  <a:srgbClr val="FFFF00"/>
                </a:solidFill>
              </a:rPr>
              <a:t>say hi or ask questions</a:t>
            </a:r>
            <a:r>
              <a:rPr lang="en" sz="1700">
                <a:solidFill>
                  <a:schemeClr val="dk1"/>
                </a:solidFill>
              </a:rPr>
              <a:t> during break or after class!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What do today's binary bulbs spell?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CS50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cs50.ly/favorites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499" y="0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9292" y="2448450"/>
            <a:ext cx="2695050" cy="26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 title="Screenshot 2025-10-20 at 7.20.4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63" y="152400"/>
            <a:ext cx="866987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 title="Screenshot 2025-10-20 at 7.22.2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63" y="152400"/>
            <a:ext cx="866987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flat-file database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CSV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22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database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READ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DELETE, DROP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CREATE, INSERT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DELETE, DROP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TABLE table (column type,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sqlite3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sqlite3 FILE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.mode csv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.import FILE TABLE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.quit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.schema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 columns FROM table;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AVG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DISTINCT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LOWER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UPPER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" name="Google Shape;186;p39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9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p40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9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C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Google Shape;196;p41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9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" name="Google Shape;201;p42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9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12121"/>
                          </a:solidFill>
                          <a:highlight>
                            <a:schemeClr val="dk1"/>
                          </a:highlight>
                        </a:rPr>
                        <a:t>SQL</a:t>
                      </a:r>
                      <a:endParaRPr>
                        <a:solidFill>
                          <a:srgbClr val="21212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highlight>
                            <a:schemeClr val="dk1"/>
                          </a:highlight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" name="Google Shape;206;p43"/>
          <p:cNvGraphicFramePr/>
          <p:nvPr/>
        </p:nvGraphicFramePr>
        <p:xfrm>
          <a:off x="347447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97525"/>
                <a:gridCol w="1097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language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COUNT(*)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Python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SQL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GROUP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LIMIT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ORDER BY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WHERE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INSERT INTO table (column, ...) VALUES(value,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DELETE FROM table WHERE condition;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UPDATE table SET column = value WHERE condition;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IMDb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51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1"/>
          <p:cNvSpPr/>
          <p:nvPr/>
        </p:nvSpPr>
        <p:spPr>
          <a:xfrm>
            <a:off x="5945557" y="1627556"/>
            <a:ext cx="66900" cy="30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1"/>
          <p:cNvSpPr/>
          <p:nvPr/>
        </p:nvSpPr>
        <p:spPr>
          <a:xfrm>
            <a:off x="5982584" y="29761"/>
            <a:ext cx="3118200" cy="157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51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1"/>
          <p:cNvSpPr/>
          <p:nvPr/>
        </p:nvSpPr>
        <p:spPr>
          <a:xfrm>
            <a:off x="5669700" y="537300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2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52"/>
          <p:cNvSpPr/>
          <p:nvPr/>
        </p:nvSpPr>
        <p:spPr>
          <a:xfrm>
            <a:off x="5945557" y="1627556"/>
            <a:ext cx="66900" cy="3065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2"/>
          <p:cNvSpPr/>
          <p:nvPr/>
        </p:nvSpPr>
        <p:spPr>
          <a:xfrm>
            <a:off x="5982584" y="29761"/>
            <a:ext cx="3118200" cy="157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2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one-to-one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BLOB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NUMERIC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REAL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NOT NULL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UNIQUE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PRIMARY KEY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FOREIGN KEY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JOIN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0" name="Google Shape;290;p58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904500"/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1" name="Google Shape;291;p58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05400"/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" name="Google Shape;296;p59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904500"/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7" name="Google Shape;297;p59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05400"/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386676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" name="Google Shape;302;p60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904500"/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03" name="Google Shape;303;p60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05400"/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" name="Google Shape;308;p61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904500"/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09" name="Google Shape;309;p61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05400"/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" name="Google Shape;314;p62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15" name="Google Shape;315;p62"/>
          <p:cNvGraphicFramePr/>
          <p:nvPr/>
        </p:nvGraphicFramePr>
        <p:xfrm>
          <a:off x="22564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05400"/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386676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" name="Google Shape;320;p63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90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rating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…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21" name="Google Shape;321;p63"/>
          <p:cNvGraphicFramePr/>
          <p:nvPr/>
        </p:nvGraphicFramePr>
        <p:xfrm>
          <a:off x="326180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05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 Office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5"/>
          <p:cNvSpPr/>
          <p:nvPr/>
        </p:nvSpPr>
        <p:spPr>
          <a:xfrm>
            <a:off x="165830" y="416325"/>
            <a:ext cx="36885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5"/>
          <p:cNvSpPr/>
          <p:nvPr/>
        </p:nvSpPr>
        <p:spPr>
          <a:xfrm>
            <a:off x="6012346" y="1575941"/>
            <a:ext cx="3118200" cy="354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5"/>
          <p:cNvSpPr/>
          <p:nvPr/>
        </p:nvSpPr>
        <p:spPr>
          <a:xfrm>
            <a:off x="5940543" y="1602891"/>
            <a:ext cx="3118200" cy="354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65"/>
          <p:cNvSpPr/>
          <p:nvPr/>
        </p:nvSpPr>
        <p:spPr>
          <a:xfrm>
            <a:off x="3326450" y="3236496"/>
            <a:ext cx="3118200" cy="190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one-to-many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5" name="Google Shape;345;p67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6" name="Google Shape;346;p67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1" name="Google Shape;351;p68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2" name="Google Shape;352;p68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63881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7" name="Google Shape;357;p69"/>
          <p:cNvGraphicFramePr/>
          <p:nvPr/>
        </p:nvGraphicFramePr>
        <p:xfrm>
          <a:off x="48767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8" name="Google Shape;358;p69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3" name="Google Shape;363;p70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64" name="Google Shape;364;p70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highlight>
                          <a:schemeClr val="dk1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9" name="Google Shape;369;p71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show_id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70" name="Google Shape;370;p71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5" name="Google Shape;375;p72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76" name="Google Shape;376;p72"/>
          <p:cNvGraphicFramePr/>
          <p:nvPr/>
        </p:nvGraphicFramePr>
        <p:xfrm>
          <a:off x="2219150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id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dk1"/>
                          </a:highlight>
                        </a:rPr>
                        <a:t>63881</a:t>
                      </a:r>
                      <a:endParaRPr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1" name="Google Shape;381;p73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82" name="Google Shape;382;p73"/>
          <p:cNvGraphicFramePr/>
          <p:nvPr/>
        </p:nvGraphicFramePr>
        <p:xfrm>
          <a:off x="3243175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title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Catweazle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7" name="Google Shape;387;p74"/>
          <p:cNvGraphicFramePr/>
          <p:nvPr/>
        </p:nvGraphicFramePr>
        <p:xfrm>
          <a:off x="4267188" y="197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{2098631F-C65F-47B5-8536-6FE3CD0505C6}</a:tableStyleId>
              </a:tblPr>
              <a:tblGrid>
                <a:gridCol w="102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genre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Adventure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Comedy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Family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76"/>
          <p:cNvSpPr/>
          <p:nvPr/>
        </p:nvSpPr>
        <p:spPr>
          <a:xfrm>
            <a:off x="5671034" y="0"/>
            <a:ext cx="3454200" cy="460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76"/>
          <p:cNvSpPr/>
          <p:nvPr/>
        </p:nvSpPr>
        <p:spPr>
          <a:xfrm>
            <a:off x="3179884" y="2884300"/>
            <a:ext cx="2975100" cy="203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76"/>
          <p:cNvSpPr/>
          <p:nvPr/>
        </p:nvSpPr>
        <p:spPr>
          <a:xfrm>
            <a:off x="2465619" y="1435234"/>
            <a:ext cx="360600" cy="242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76"/>
          <p:cNvSpPr/>
          <p:nvPr/>
        </p:nvSpPr>
        <p:spPr>
          <a:xfrm>
            <a:off x="2787585" y="1549953"/>
            <a:ext cx="360600" cy="2427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many-to-many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7363"/>
            <a:ext cx="8839208" cy="4188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indexes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INDEX name ON table (column, ...);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B-trees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cs50 import SQL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uFill>
                  <a:noFill/>
                </a:uFill>
                <a:hlinkClick r:id="rId3"/>
              </a:rPr>
              <a:t>cs50.readthedocs.io/libraries/cs50/python/#cs50.SQL</a:t>
            </a:r>
            <a:r>
              <a:rPr lang="en" sz="2700"/>
              <a:t> </a:t>
            </a:r>
            <a:endParaRPr sz="27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injection attacks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86" title="Screenshot 2025-10-20 at 10.15.2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113" y="152400"/>
            <a:ext cx="543777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86"/>
          <p:cNvSpPr/>
          <p:nvPr/>
        </p:nvSpPr>
        <p:spPr>
          <a:xfrm>
            <a:off x="2160575" y="2413850"/>
            <a:ext cx="2778900" cy="34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87" title="Screenshot 2025-10-20 at 10.15.2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113" y="152400"/>
            <a:ext cx="543777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8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8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9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9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f"SELECT * FROM users WHERE username = '{username}' AND password = '{password}'")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9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rows = db.execute(f"SELECT * FROM users WHERE username = </a:t>
            </a:r>
            <a:r>
              <a:rPr lang="en" sz="1100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'malan@harvard.edu'--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'{password}'")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9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db.execute(f"SELECT * FROM users WHERE username = </a:t>
            </a:r>
            <a:r>
              <a:rPr lang="en" sz="1100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'malan@harvard.edu'</a:t>
            </a:r>
            <a:r>
              <a:rPr lang="en" sz="1100" u="sng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9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</a:t>
            </a:r>
            <a:r>
              <a:rPr lang="en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SELECT * FROM users WHERE username = </a:t>
            </a:r>
            <a:r>
              <a:rPr lang="en" sz="1100" u="sng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'malan@harvard.edu'</a:t>
            </a:r>
            <a:r>
              <a:rPr lang="en" sz="1100" u="sng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--</a:t>
            </a:r>
            <a:r>
              <a:rPr lang="en" sz="11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9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ows = db.execute(f"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SELECT * FROM users WHERE username = </a:t>
            </a:r>
            <a:r>
              <a:rPr lang="en" sz="1100" u="sng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'malan@harvard.edu''--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' AND password = '{password}'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</a:t>
            </a:r>
            <a:r>
              <a:rPr lang="en" sz="11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"SELECT * FROM users WHERE username = ? AND password = ?"</a:t>
            </a: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username, password)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rows: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9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conditions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412" y="0"/>
            <a:ext cx="3621163" cy="51435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9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 = db.execute("SELECT likes FROM posts WHERE id = ?", id);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likes = rows[0]["likes"]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db.execute("UPDATE posts SET likes = ? WHERE id = ?", likes + 1, id);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BEGIN TRANSACTION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COMMIT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ROLLBACK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0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db.execute("BEGIN TRANSACTION")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rows = db.execute("SELECT likes FROM posts WHERE id = ?", id);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likes = rows[0]["likes"]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db.execute("UPDATE posts SET likes = ? WHERE id = ?", likes + 1, id);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FF00"/>
                </a:solidFill>
                <a:latin typeface="Consolas"/>
                <a:ea typeface="Consolas"/>
                <a:cs typeface="Consolas"/>
                <a:sym typeface="Consolas"/>
              </a:rPr>
              <a:t>db.execute("COMMIT")</a:t>
            </a:r>
            <a:endParaRPr sz="1700">
              <a:solidFill>
                <a:srgbClr val="00FF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injection attacks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83538"/>
            <a:ext cx="9144000" cy="3576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13" y="1277975"/>
            <a:ext cx="8406375" cy="258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oogle Shape;552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