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E2C0CE-A229-40F2-B5E1-5F80845D55B7}">
  <a:tblStyle styleId="{1EE2C0CE-A229-40F2-B5E1-5F80845D55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say%20%5Bhello%2C%20world%5D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ask%20%5BWhat's%20your%20name%3F%20%5D%20and%20wait%0Asay%20(join%5Bhello%2C%20%5D%20(answer)%0A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set%20%5Bcounter%20v%5D%20to%20(0)" TargetMode="Externa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change%20%5Bcounter%20v%5D%20by%20(1)" TargetMode="Externa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if%20%3C(x)%20%3C%20(y)%3E%20then%0Asay%20%5Bx%20is%20less%20than%20y%5D" TargetMode="Externa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if%20%3C(x)%20%3C%20(y)%3E%20then%0Asay%20%5Bx%20is%20less%20than%20y%5D%0Aelse%0Asay%20%5Bx%20is%20not%20less%20than%20y%5D" TargetMode="Externa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if%20%3C(x)%20%3C%20(y)%3E%20then%0Asay%20%5Bx%20is%20less%20than%20y%5D%0Aelse%0Aif%20%3C(x)%20%3E%20(y)%3E%20then%0Asay%20%5Bx%20is%20greater%20than%20y%5D%0Aelse%0Asay%20%5Bx%20is%20equal%20to%20y%5D" TargetMode="Externa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compare2.py" TargetMode="Externa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agree2.py" TargetMode="Externa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repeat%20%5B3%5D%0Asay%5Bmeow%5D" TargetMode="Externa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forever%0Asay%5Bmeow%5D" TargetMode="Externa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119545d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4119545d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COPY *.c FILES INTO workspace folder (and remove comments)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Reload codespace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Update settings.json.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Uncheck VS Code tabs except for Terminal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Hide Activity Bar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Hide Explorer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Remove comments from any pre-made code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4119545db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4119545db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4119545db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4119545db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goal is to teach you to teach yourself new languages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64077ea4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64077ea4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64077ea43c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64077ea43c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64077ea43c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64077ea43c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4119545db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4119545db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4119545db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4119545db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4119545db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4119545db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1/hello0.c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1/hello0.py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6/speller/dictionary.py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6/filter/{blur,edges}.py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d19c1f350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0d19c1f350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22c153d1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922c153d1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4077ea43c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4077ea43c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4077ea43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4077ea43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https://scratchblocks.github.io/#?style=scratch3&amp;script=say%20%5Bhello%2C%20world%5D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4077ea43c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64077ea43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64077ea43c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64077ea43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922c153d1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922c153d1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48d6721ca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d48d6721ca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119545db0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4119545db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4119545db0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4119545db0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119545db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4119545db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64077ea43c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64077ea43c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https://scratchblocks.github.io/#?style=scratch3&amp;script=ask%20%5BWhat's%20your%20name%3F%20%5D%20and%20wait%0Asay%20(join%5Bhello%2C%20%5D%20(answer)%0A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64077ea43c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64077ea43c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1/hello1.c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4077ea43c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64077ea43c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1/hello1.py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4119545db0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4119545db0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64077ea43c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64077ea43c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</a:t>
            </a:r>
            <a:r>
              <a:rPr lang="en">
                <a:solidFill>
                  <a:schemeClr val="dk1"/>
                </a:solidFill>
              </a:rPr>
              <a:t>hello2.py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119545db0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4119545db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1/hello3.py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922c153d1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922c153d1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48d6721c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d48d6721c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1/hello4.py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48d6721ca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d48d6721c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d48d6721ca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d48d6721ca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d48d6721ca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d48d6721ca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48d6721ca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d48d6721c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48d6721ca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d48d6721ca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48d6721ca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d48d6721ca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48d6721ca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d48d6721ca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d48d6721ca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d48d6721c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922c153d14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922c153d1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https://scratchblocks.github.io/#?style=scratch3&amp;script=set%20%5Bcounter%20v%5D%20to%20(0)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922c153d14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922c153d14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922c153d14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922c153d14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922c153d14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922c153d14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https://scratchblocks.github.io/#?style=scratch3&amp;script=change%20%5Bcounter%20v%5D%20by%20(1)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922c153d14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922c153d14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922c153d14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922c153d1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922c153d1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922c153d1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4119545db0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4119545db0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119545db0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4119545db0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4119545db0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4119545db0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1/calculator0.c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</a:t>
            </a:r>
            <a:r>
              <a:rPr lang="en">
                <a:solidFill>
                  <a:schemeClr val="dk1"/>
                </a:solidFill>
              </a:rPr>
              <a:t>calculator{0,1}.py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4119545db0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4119545db0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4119545db0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4119545db0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4119545db0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4119545db0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4119545db0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4119545db0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4119545db0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4119545db0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119545db0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4119545db0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4119545db0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4119545db0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4119545db0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4119545db0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https://scratchblocks.github.io/#?style=scratch3&amp;script=if%20%3C(x)%20%3C%20(y)%3E%20then%0Asay%20%5Bx%20is%20less%20than%20y%5D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4119545db0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4119545db0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4119545db0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4119545db0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4119545db0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4119545db0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https://scratchblocks.github.io/#?style=scratch3&amp;script=if%20%3C(x)%20%3C%20(y)%3E%20then%0Asay%20%5Bx%20is%20less%20than%20y%5D%0Aelse%0Asay%20%5Bx%20is%20not%20less%20than%20y%5D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4119545db0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4119545db0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4119545db0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4119545db0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4119545db0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4119545db0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https://scratchblocks.github.io/#?style=scratch3&amp;script=if%20%3C(x)%20%3C%20(y)%3E%20then%0Asay%20%5Bx%20is%20less%20than%20y%5D%0Aelse%0Aif%20%3C(x)%20%3E%20(y)%3E%20then%0Asay%20%5Bx%20is%20greater%20than%20y%5D%0Aelse%0Asay%20%5Bx%20is%20equal%20to%20y%5D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4119545db0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4119545db0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4119545db0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14119545db0_0_286:notes"/>
          <p:cNvSpPr txBox="1"/>
          <p:nvPr>
            <p:ph idx="1" type="body"/>
          </p:nvPr>
        </p:nvSpPr>
        <p:spPr>
          <a:xfrm>
            <a:off x="685800" y="435861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1/compare3.c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1/compare3.py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922c153d14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922c153d14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4/compare2.c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4/</a:t>
            </a:r>
            <a:r>
              <a:rPr lang="en" u="sng">
                <a:solidFill>
                  <a:schemeClr val="hlink"/>
                </a:solidFill>
                <a:hlinkClick r:id="rId2"/>
              </a:rPr>
              <a:t>compare2.py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1/agree2.c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1/agree0.py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68e502d5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68e502d5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68e502d58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68e502d58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1/agree1.py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922c153d14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922c153d14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922c153d14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922c153d14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922c153d14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922c153d14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</a:t>
            </a:r>
            <a:r>
              <a:rPr lang="en" u="sng">
                <a:solidFill>
                  <a:schemeClr val="hlink"/>
                </a:solidFill>
                <a:hlinkClick r:id="rId2"/>
              </a:rPr>
              <a:t>agree2.py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4/copy5.c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4/copy.py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2/uppercase2.c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2/uppercase{0,1}.py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4119545db0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4119545db0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cat0.py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f8035616f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f8035616f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https://scratchblocks.github.io/#?style=scratch3&amp;script=repeat%20%5B3%5D%0Asay%5Bmeow%5D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f8035616f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f8035616f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f8035616f9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f8035616f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cat1.py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f8035616f9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f8035616f9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f8035616f9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f8035616f9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f8035616f9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f8035616f9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cat2.py</a:t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f8035616f9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f8035616f9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cat3.py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9255e19e45_15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9255e19e45_15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4119545db0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14119545db0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https://scratchblocks.github.io/#?style=scratch3&amp;script=forever%0Asay%5Bmeow%5D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4119545db0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14119545db0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4119545db0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4119545db0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cat12.c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cat</a:t>
            </a:r>
            <a:r>
              <a:rPr lang="en">
                <a:solidFill>
                  <a:schemeClr val="dk1"/>
                </a:solidFill>
              </a:rPr>
              <a:t>{4,5,6}.py</a:t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68e502d58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68e502d58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9255e19e45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9255e19e45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1/calculator6.c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</a:t>
            </a:r>
            <a:r>
              <a:rPr lang="en"/>
              <a:t>calculator2.py, with </a:t>
            </a:r>
            <a:r>
              <a:rPr lang="en"/>
              <a:t>1/3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not an issue with /</a:t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14119545db0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14119545db0_0_400:notes"/>
          <p:cNvSpPr txBox="1"/>
          <p:nvPr>
            <p:ph idx="1" type="body"/>
          </p:nvPr>
        </p:nvSpPr>
        <p:spPr>
          <a:xfrm>
            <a:off x="685800" y="44958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calculator3.py, with 1/3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4119545db0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4119545db0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an issue</a:t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922c153d14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922c153d14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integer{0,1,2,3}.py</a:t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449b298dd1_2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449b298dd1_2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1/mario0.py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1/mario1.c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1/mario1.py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449b298dd1_2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449b298dd1_2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mario{2,3}.py</a:t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449b298dd1_2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449b298dd1_2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mario{4,5}.py</a:t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14119545db0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14119545db0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4119545db0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4119545db0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</a:t>
            </a:r>
            <a:r>
              <a:rPr lang="en">
                <a:solidFill>
                  <a:schemeClr val="dk1"/>
                </a:solidFill>
              </a:rPr>
              <a:t>scores{0,1,2}.py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3/phonebook{0,1}.py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922c153d1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2922c153d1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922c153d1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922c153d1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922c153d1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2922c153d1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phonebook2.py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68e502d58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68e502d58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phonebook{3,4}.py</a:t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14119545db0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14119545db0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4119545db0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14119545db0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2/greet.py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2/exit.py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14119545db0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14119545db0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14119545db0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14119545db0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4/phonebook{0,1,2}.py</a:t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2922c153d14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2922c153d14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 install cowsay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6/moo/cow0.py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 install pyttsx3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6/moo/cow1.py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 install qrcode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6/qr/qr.py</a:t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4119545db0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4119545db0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s50.ly/lunch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cs.python.org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ocs.python.org/3/library/functions.html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ocs.python.org/3/library/functions.html#print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hyperlink" Target="https://docs.python.org/3/library/stdtypes.html#sequence-types-list-tuple-range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docs.python.org/3/library/stdtypes.html#string-methods" TargetMode="Externa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9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9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5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5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5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6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4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hyperlink" Target="https://docs.python.org/3/library/functions.html#len" TargetMode="Externa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hyperlink" Target="https://docs.python.org/3/library/stdtypes.html#mapping-types-dict" TargetMode="Externa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3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hyperlink" Target="https://docs.python.org/3/library/sys.html" TargetMode="Externa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3" Type="http://schemas.openxmlformats.org/officeDocument/2006/relationships/hyperlink" Target="https://docs.python.org/3/library/csv.html" TargetMode="Externa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On today's menu, Fruit by the Foot 📏 and Python 🐍.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Help yourself to seconds since it's a Wednesday!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If you'd like to attend CS50 Lunch </a:t>
            </a:r>
            <a:r>
              <a:rPr lang="en" sz="1700">
                <a:solidFill>
                  <a:schemeClr val="dk1"/>
                </a:solidFill>
              </a:rPr>
              <a:t>this Fri 10/10 at 1:15pm</a:t>
            </a:r>
            <a:r>
              <a:rPr lang="en" sz="1700">
                <a:solidFill>
                  <a:schemeClr val="dk1"/>
                </a:solidFill>
              </a:rPr>
              <a:t>, RSVP at </a:t>
            </a:r>
            <a:r>
              <a:rPr lang="en" sz="1700">
                <a:solidFill>
                  <a:srgbClr val="FFFF0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cs50.ly/lunch</a:t>
            </a:r>
            <a:r>
              <a:rPr lang="en" sz="1700">
                <a:solidFill>
                  <a:schemeClr val="dk1"/>
                </a:solidFill>
              </a:rPr>
              <a:t>!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We'll be joined by alumni from Meta.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Do </a:t>
            </a:r>
            <a:r>
              <a:rPr lang="en" sz="1700">
                <a:solidFill>
                  <a:srgbClr val="FFFF00"/>
                </a:solidFill>
              </a:rPr>
              <a:t>say hi or ask questions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700">
                <a:solidFill>
                  <a:schemeClr val="dk1"/>
                </a:solidFill>
              </a:rPr>
              <a:t>during break or after class!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What do today's binary bulbs spell?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CS50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9475" y="1743075"/>
            <a:ext cx="230505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2608950" y="1456200"/>
            <a:ext cx="3926100" cy="22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main(void)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printf("hello, world\n");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608950" y="1456200"/>
            <a:ext cx="3926100" cy="22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 world")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make hello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./hello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clang -o hello hello.c -lcs50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./hello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 hello.py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compiled, interpreted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5"/>
          <p:cNvSpPr txBox="1"/>
          <p:nvPr/>
        </p:nvSpPr>
        <p:spPr>
          <a:xfrm>
            <a:off x="4724100" y="1959300"/>
            <a:ext cx="33534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printf("hello, world");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9" name="Google Shape;11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2247450"/>
            <a:ext cx="1828800" cy="64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6"/>
          <p:cNvSpPr txBox="1"/>
          <p:nvPr/>
        </p:nvSpPr>
        <p:spPr>
          <a:xfrm>
            <a:off x="3657600" y="1959300"/>
            <a:ext cx="54864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printf("hello, world\n");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7" name="Google Shape;1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2247450"/>
            <a:ext cx="1828800" cy="64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7"/>
          <p:cNvSpPr txBox="1"/>
          <p:nvPr/>
        </p:nvSpPr>
        <p:spPr>
          <a:xfrm>
            <a:off x="4724100" y="1959300"/>
            <a:ext cx="33534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 world")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5" name="Google Shape;1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2247450"/>
            <a:ext cx="1828800" cy="64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modules, packages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&lt;cs50.h&gt;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import cs50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3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 answer = get_string("What's your name?\n");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printf("hello, %s\n", answer);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8" name="Google Shape;16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4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answer = get_string("What's your name? ");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printf("hello, %s\n", answer);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6" name="Google Shape;1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5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answer = get_string("What's your name? ")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 " + answer)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4" name="Google Shape;18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6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answer = get_string("What's your name? ")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print("hello,", answer)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2" name="Google Shape;1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7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 = get_string("What's your name? 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print(f"hello, {answer}")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0" name="Google Shape;20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8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8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 = input("What's your name? 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print(f"hello, {answer}")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8" name="Google Shape;2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parameters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named parameters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docs.python.org/3/library/functions.html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uFill>
                  <a:noFill/>
                </a:uFill>
                <a:hlinkClick r:id="rId3"/>
              </a:rPr>
              <a:t>https://docs.python.org/3/library/functions.html#print</a:t>
            </a:r>
            <a:r>
              <a:rPr lang="en" sz="2800"/>
              <a:t> </a:t>
            </a:r>
            <a:endParaRPr sz="2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print(*objects, sep=' ', end='\n',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*objects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, sep=' ', end='\n',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print(*objects, </a:t>
            </a:r>
            <a:r>
              <a:rPr lang="en" sz="20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sep=' '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, end='\n',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print(*objects, sep=' ', </a:t>
            </a:r>
            <a:r>
              <a:rPr lang="en" sz="20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end='\n'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9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 counter = 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66" name="Google Shape;26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0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counter = 0;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74" name="Google Shape;27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5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51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0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82" name="Google Shape;28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5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52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0" name="Google Shape;29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53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8" name="Google Shape;29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4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counter + 1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06" name="Google Shape;30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5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5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+= 1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14" name="Google Shape;31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range      </a:t>
            </a:r>
            <a:r>
              <a:rPr lang="en">
                <a:solidFill>
                  <a:srgbClr val="000000"/>
                </a:solidFill>
              </a:rPr>
              <a:t>sequence of numbers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       </a:t>
            </a:r>
            <a:r>
              <a:rPr lang="en">
                <a:solidFill>
                  <a:srgbClr val="000000"/>
                </a:solidFill>
              </a:rPr>
              <a:t>sequence of mutable values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tuple      </a:t>
            </a:r>
            <a:r>
              <a:rPr lang="en">
                <a:solidFill>
                  <a:srgbClr val="000000"/>
                </a:solidFill>
              </a:rPr>
              <a:t>sequence of immutable values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dict       </a:t>
            </a:r>
            <a:r>
              <a:rPr lang="en">
                <a:solidFill>
                  <a:srgbClr val="000000"/>
                </a:solidFill>
              </a:rPr>
              <a:t>collection of key-value pairs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</a:rPr>
              <a:t>collection of unique values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range      </a:t>
            </a:r>
            <a:r>
              <a:rPr lang="en">
                <a:solidFill>
                  <a:srgbClr val="666666"/>
                </a:solidFill>
              </a:rPr>
              <a:t>sequence of numbers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       </a:t>
            </a:r>
            <a:r>
              <a:rPr lang="en">
                <a:solidFill>
                  <a:srgbClr val="666666"/>
                </a:solidFill>
              </a:rPr>
              <a:t>sequence of mutable values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tuple      </a:t>
            </a:r>
            <a:r>
              <a:rPr lang="en">
                <a:solidFill>
                  <a:srgbClr val="666666"/>
                </a:solidFill>
              </a:rPr>
              <a:t>sequence of immutable values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dict       </a:t>
            </a:r>
            <a:r>
              <a:rPr lang="en">
                <a:solidFill>
                  <a:srgbClr val="666666"/>
                </a:solidFill>
              </a:rPr>
              <a:t>collection of key-value pairs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666666"/>
                </a:solidFill>
              </a:rPr>
              <a:t>collection of unique values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get_char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get_double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get_long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get_float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get_int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get_float, get_int, 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6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66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72" name="Google Shape;37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24225"/>
            <a:ext cx="2743200" cy="1495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6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67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0" name="Google Shape;38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24225"/>
            <a:ext cx="2743200" cy="1495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8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68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68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x &lt; y: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8" name="Google Shape;38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24225"/>
            <a:ext cx="2743200" cy="1495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6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69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not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6" name="Google Shape;39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6200"/>
            <a:ext cx="2743200" cy="2311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7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70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not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04" name="Google Shape;40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6200"/>
            <a:ext cx="2743200" cy="2311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7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71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x &lt; y: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not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2" name="Google Shape;41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6200"/>
            <a:ext cx="2743200" cy="2311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7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72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 if (x &gt; y)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greater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equal to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0" name="Google Shape;42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13" y="755825"/>
            <a:ext cx="2610575" cy="36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7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73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(x &gt; y)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greater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equal to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8" name="Google Shape;42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13" y="755825"/>
            <a:ext cx="2610575" cy="36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7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74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x &lt; y: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elif x &gt; y: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greater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equal to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36" name="Google Shape;43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13" y="755825"/>
            <a:ext cx="2610575" cy="36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uFill>
                  <a:noFill/>
                </a:uFill>
                <a:hlinkClick r:id="rId3"/>
              </a:rPr>
              <a:t>docs.python.org/3/library/stdtypes.html#sequence-types-list-tuple-range</a:t>
            </a:r>
            <a:r>
              <a:rPr lang="en" sz="2000"/>
              <a:t> </a:t>
            </a:r>
            <a:endParaRPr sz="20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object-oriented programming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uFill>
                  <a:noFill/>
                </a:uFill>
                <a:hlinkClick r:id="rId3"/>
              </a:rPr>
              <a:t>docs.python.org/3/library/stdtypes.html#string-methods</a:t>
            </a:r>
            <a:r>
              <a:rPr lang="en" sz="2700"/>
              <a:t> </a:t>
            </a:r>
            <a:endParaRPr sz="27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8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8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82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 i = 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while (i &lt; 3)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i++;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79" name="Google Shape;47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8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83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i = 0;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(i &lt; 3)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i++;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7" name="Google Shape;48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8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8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84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 = 0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i &lt; 3: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 += 1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95" name="Google Shape;49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8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85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for (int i = 0; i &lt; 3; i++)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3" name="Google Shape;50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8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86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3; i++)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1" name="Google Shape;51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8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8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87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i in [0, 1, 2]: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9" name="Google Shape;51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88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88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88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i in range(3):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27" name="Google Shape;52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8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89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_ in range(3):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35" name="Google Shape;53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9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90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while (true)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3" name="Google Shape;54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49363"/>
            <a:ext cx="1828800" cy="144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9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9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91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(true)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51" name="Google Shape;55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49363"/>
            <a:ext cx="1828800" cy="144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9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92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True: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59" name="Google Shape;55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49363"/>
            <a:ext cx="1828800" cy="144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9988" y="152400"/>
            <a:ext cx="4024023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truncation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floating-point imprecision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9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 overflow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9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exceptions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0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uFill>
                  <a:noFill/>
                </a:uFill>
                <a:hlinkClick r:id="rId3"/>
              </a:rPr>
              <a:t>docs.python.org/3/library/functions.html#len</a:t>
            </a:r>
            <a:r>
              <a:rPr lang="en" sz="3400"/>
              <a:t> </a:t>
            </a:r>
            <a:endParaRPr sz="34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0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dict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9" name="Google Shape;619;p104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{1EE2C0CE-A229-40F2-B5E1-5F80845D55B7}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key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0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uFill>
                  <a:noFill/>
                </a:uFill>
                <a:hlinkClick r:id="rId3"/>
              </a:rPr>
              <a:t>docs.python.org/3/library/stdtypes.html#mapping-types-dict</a:t>
            </a:r>
            <a:endParaRPr sz="25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106" title="Screenshot 2025-10-08 at 8.55.2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950" y="152400"/>
            <a:ext cx="77601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0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docs.python.org/3/library/sys.html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csv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docs.python.org/3/library/csv.html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pip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