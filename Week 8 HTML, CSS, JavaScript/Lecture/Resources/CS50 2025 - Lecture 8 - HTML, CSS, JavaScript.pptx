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EEF9CF-E7B1-4E09-A088-A7FC04DA4420}">
  <a:tblStyle styleId="{B4EEF9CF-E7B1-4E09-A088-A7FC04DA44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mercury.lcs.mit.edu/~jnc/tech/arpageo.html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://mercury.lcs.mit.edu/~jnc/tech/arpageo.html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cUJlRNRguAM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tracker.ietf.org/doc/html/rfc791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ietf.org/rfc/rfc793.txt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google.com/search?q=cats" TargetMode="Externa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eveloper.mozilla.org/en-US/docs/Web/JavaScript/Guide/Regular_expressions" TargetMode="Externa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eveloper.mozilla.org/en-US/docs/Web/JavaScript/Guide/Regular_expressions" TargetMode="Externa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tml.spec.whatwg.org/multipage/input.html#valid-e-mail-address" TargetMode="Externa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eveloper.mozilla.org/en-US/docs/Web/CSS/CSS_Selectors" TargetMode="Externa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etbootstrap.com/" TargetMode="Externa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if%20%3C(x)%20%3C%20(y)%3E%20then" TargetMode="Externa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if%20%3C(x)%20%3C%20(y)%3E%20then%0A%0Aelse" TargetMode="Externa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if%20%3C(x)%20%3C%20(y)%3E%20then%0A%0Aelse%0A%0Aif%20%3C(x)%20%3E%20(y)%3E%20then%0A%0Aelse" TargetMode="Externa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set%20%5Bcounter%20v%5D%20to%20%5B0%5D" TargetMode="Externa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change%20%5Bcounter%20v%5D%20by%20%5B1%5D" TargetMode="Externa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repeat%20%5B3%5D" TargetMode="Externa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cratchblocks.github.io/#?style=scratch3&amp;script=forever" TargetMode="Externa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mofAEZ6fWLc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dee61fba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0dee61fba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“The catch, though, with what we just did is that the CSV doesn’t contain any headers…”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End at laptop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fc8b0b4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fc8b0b4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7a119bb45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7a119bb45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9eb84db9b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9eb84db9b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9eb84db9b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9eb84db9b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http://mercury.lcs.mit.edu/~jnc/tech/arpageo.html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June, 1970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fca93dc87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fca93dc87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http://mercury.lcs.mit.edu/~jnc/tech/arpageo.html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9eb84db9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9eb84db9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7a119bb45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7a119bb45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https://www.youtube.com/watch?v=cUJlRNRguAM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ca93dc87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fca93dc87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eb84db9b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eb84db9b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fca93dc87d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fca93dc87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978f55a5a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978f55a5a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https://datatracker.ietf.org/doc/html/rfc791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9eb84db9b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9eb84db9b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978f55a5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978f55a5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9eb84db9b3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9eb84db9b3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978f55a5a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978f55a5a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https://www.ietf.org/rfc/rfc793.txt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9eb84db9b3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9eb84db9b3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ca93dc87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fca93dc87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fca93dc87d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fca93dc87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978f55a5a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978f55a5a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9eb84db9b3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9eb84db9b3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fca93dc87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fca93dc87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44d1f6b8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44d1f6b8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fca93dc87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fca93dc87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fca93dc87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fca93dc87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fca93dc87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fca93dc87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ca93dc87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ca93dc87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fca93dc87d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fca93dc87d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4d1f6b8b4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44d1f6b8b4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4d1f6b8b4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4d1f6b8b4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4d1f6b8b4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4d1f6b8b4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fca93dc87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fca93dc87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fca93dc87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fca93dc87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fca93dc87d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fca93dc87d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978f55a5a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978f55a5a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4d1f6b8b4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4d1f6b8b4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97b89a00b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97b89a00b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curl -I https://www.harvard.edu/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44d1f6b8b4_1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44d1f6b8b4_1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curl -I http://www.harvard.edu/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44d1f6b8b4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44d1f6b8b4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44d1f6b8b4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44d1f6b8b4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44d1f6b8b4_1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44d1f6b8b4_1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curl -I http://safetyschool.org/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9fc8b0b43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9fc8b0b43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https://www.stanford.edu/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44d1f6b8b4_1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44d1f6b8b4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a4efe25bc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a4efe25bc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44d1f6b8b4_1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44d1f6b8b4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hello0.html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fca93dc87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fca93dc87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fca93dc87d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fca93dc87d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a4586099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a4586099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a4586099a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a4586099a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a4586099a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a4586099a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a4586099a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a4586099a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a4586099a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a4586099a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9fc8b0b43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9fc8b0b43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fc8b0b43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9fc8b0b43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a4586099a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a4586099a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fc8b0b43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9fc8b0b43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a4586099a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a4586099a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a4586099a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a4586099a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a4586099a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a4586099a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a4586099a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a4586099a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a4586099a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a4586099a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a4586099a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a4586099a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9eb84db9b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9eb84db9b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hello0.html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paragraphs.html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headings.html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list{0,1}.html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table.html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image.html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video.html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link0.html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7ab48dd5cd_2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7ab48dd5cd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7ab48dd5cd_2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7ab48dd5cd_2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17ab48dd5cd_2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17ab48dd5cd_2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https://www.google.com/search?q=cats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search{0,1}.html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register0.html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978f55a5a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978f55a5a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978f55a5a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978f55a5a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978f55a5a1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978f55a5a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978f55a5a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978f55a5a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https://developer.mozilla.org/en-US/docs/Web/JavaScript/Guide/Regular_expressions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978f55a5a1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2978f55a5a1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https://developer.mozilla.org/en-US/docs/Web/JavaScript/Guide/Regular_expressions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register1.html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978f55a5a1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978f55a5a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https://html.spec.whatwg.org/multipage/input.html#valid-e-mail-address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register2.html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9fc8b0b43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9fc8b0b43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978f55a5a1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978f55a5a1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44d1f6b8b4_1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44d1f6b8b4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a4efe25bcf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a4efe25bcf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a4a8fca66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a4a8fca66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https://developer.mozilla.org/en-US/docs/Web/CSS/CSS_Selectors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44d1f6b8b4_1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44d1f6b8b4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44d1f6b8b4_1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44d1f6b8b4_1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a4586099a4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a4586099a4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a4586099a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a4586099a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44d1f6b8b4_1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44d1f6b8b4_1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a4586099a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a4586099a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home{0,1,2,3,4,5,6}.html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home7.{html,css}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link{2,3}.html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phonebook{0,1}.html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9fc8b0b43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9fc8b0b43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fca93dc87d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fca93dc87d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https://getbootstrap.com/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12b9aec6ef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12b9aec6ef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2b9aec6efa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12b9aec6efa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44d1f6b8b4_1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44d1f6b8b4_1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a4586099a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2a4586099a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2b9aec6ef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2b9aec6ef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2b9aec6ef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2b9aec6ef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https://scratchblocks.github.io/#?style=scratch3&amp;script=if%20%3C(x)%20%3C%20(y)%3E%20then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12b9aec6ef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12b9aec6ef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2b9aec6ef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2b9aec6ef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https://scratchblocks.github.io/#?style=scratch3&amp;script=if%20%3C(x)%20%3C%20(y)%3E%20then%0A%0Aelse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2b9aec6ef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2b9aec6ef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12b9aec6ef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12b9aec6ef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https://scratchblocks.github.io/#?style=scratch3&amp;script=if%20%3C(x)%20%3C%20(y)%3E%20then%0A%0Aelse%0A%0Aif%20%3C(x)%20%3E%20(y)%3E%20then%0A%0Aelse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2b9aec6ef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12b9aec6ef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12b9aec6ef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12b9aec6ef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44d1f6b8b4_1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44d1f6b8b4_1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https://scratchblocks.github.io/#?style=scratch3&amp;script=set%20%5Bcounter%20v%5D%20to%20%5B0%5D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9eb84db9b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9eb84db9b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44d1f6b8b4_1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44d1f6b8b4_1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https://scratchblocks.github.io/#?style=scratch3&amp;script=change%20%5Bcounter%20v%5D%20by%20%5B1%5D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9eb84db9b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9eb84db9b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44d1f6b8b4_1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44d1f6b8b4_1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44d1f6b8b4_1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44d1f6b8b4_1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12b9aec6ef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12b9aec6ef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2b9aec6efa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12b9aec6ef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https://scratchblocks.github.io/#?style=scratch3&amp;script=repeat%20%5B3%5D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44d1f6b8b4_1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44d1f6b8b4_1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44d1f6b8b4_1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44d1f6b8b4_1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https://scratchblocks.github.io/#?style=scratch3&amp;script=forever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9eb84db9b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9eb84db9b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9eb84db9b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9eb84db9b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44d1f6b8b4_1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44d1f6b8b4_1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fca93dc87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fca93dc87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44d1f6b8b4_1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44d1f6b8b4_1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44d1f6b8b4_1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44d1f6b8b4_1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44d1f6b8b4_1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44d1f6b8b4_1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hello{1,2,3}.html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hello4.{html,js}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hello{5,6}.html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favorites{0,1,2}.html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background.html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blink.html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autocomplete.html</a:t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2b9aec6ef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12b9aec6ef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97e0f1d4d2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297e0f1d4d2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https://www.youtube.com/watch?v=mofAEZ6fWLc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hyperlink" Target="https://developer.mozilla.org/en-US/docs/Web/JavaScript/Guide/Regular_expressions" TargetMode="Externa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hyperlink" Target="https://validator.w3.org/" TargetMode="Externa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hyperlink" Target="https://getbootstrap.com/" TargetMode="Externa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7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7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4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14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11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11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8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8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8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5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6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6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3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3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2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25271" y="1138904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Today's snack, </a:t>
            </a:r>
            <a:r>
              <a:rPr lang="en" sz="1700">
                <a:solidFill>
                  <a:schemeClr val="dk1"/>
                </a:solidFill>
              </a:rPr>
              <a:t>Rice Krispies Treats</a:t>
            </a:r>
            <a:r>
              <a:rPr lang="en" sz="1700">
                <a:solidFill>
                  <a:schemeClr val="dk1"/>
                </a:solidFill>
              </a:rPr>
              <a:t>. 😋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No CS50 Lunch this week. The last one will be next week!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Do </a:t>
            </a:r>
            <a:r>
              <a:rPr lang="en" sz="1700">
                <a:solidFill>
                  <a:srgbClr val="FFFF00"/>
                </a:solidFill>
              </a:rPr>
              <a:t>say hi or ask questions</a:t>
            </a:r>
            <a:r>
              <a:rPr lang="en" sz="1700">
                <a:solidFill>
                  <a:schemeClr val="dk1"/>
                </a:solidFill>
              </a:rPr>
              <a:t> during break or after class!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What do today's binary bulbs spell?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CS50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275" y="0"/>
            <a:ext cx="720746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63" y="0"/>
            <a:ext cx="817547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TCP/IP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#.#.#.#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/>
        </p:nvSpPr>
        <p:spPr>
          <a:xfrm>
            <a:off x="722850" y="478650"/>
            <a:ext cx="7698300" cy="3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0                   1                   2                   3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0 1 2 3 4 5 6 7 8 9 0 1 2 3 4 5 6 7 8 9 0 1 2 3 4 5 6 7 8 9 0 1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|Version|  IHL  |Type of Service|          Total Length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Identification        |Flags|      Fragment Offset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Time to Live |    Protocol   |         Header Checksum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   Source Address  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Destination Address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Options                    |    Padding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Example Internet Datagram Header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80</a:t>
            </a:r>
            <a:r>
              <a:rPr lang="en">
                <a:solidFill>
                  <a:srgbClr val="FFFFFF"/>
                </a:solidFill>
              </a:rPr>
              <a:t>                 </a:t>
            </a:r>
            <a:r>
              <a:rPr lang="en">
                <a:solidFill>
                  <a:srgbClr val="666666"/>
                </a:solidFill>
              </a:rPr>
              <a:t>HTTP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443</a:t>
            </a:r>
            <a:r>
              <a:rPr i="1" lang="en">
                <a:solidFill>
                  <a:srgbClr val="FFFFFF"/>
                </a:solidFill>
              </a:rPr>
              <a:t>               </a:t>
            </a:r>
            <a:r>
              <a:rPr lang="en">
                <a:solidFill>
                  <a:srgbClr val="666666"/>
                </a:solidFill>
              </a:rPr>
              <a:t>HTTPS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...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/>
        </p:nvSpPr>
        <p:spPr>
          <a:xfrm>
            <a:off x="722850" y="32211"/>
            <a:ext cx="7698300" cy="3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0                   1                   2                   3   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0 1 2 3 4 5 6 7 8 9 0 1 2 3 4 5 6 7 8 9 0 1 2 3 4 5 6 7 8 9 0 1 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Source Port          |       Destination Port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    Sequence Number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Acknowledgment Number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Data |           |U|A|P|R|S|F|       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Offset| Reserved  |R|C|S|S|Y|I|            Window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|           |G|K|H|T|N|N|       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Checksum            |         Urgent Pointer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Options                    |    Padding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|                             data                              |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+-+-+-+-+-+-+-+-+-+-+-+-+-+-+-+-+-+-+-+-+-+-+-+-+-+-+-+-+-+-+-+-+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TCP Header Format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p30"/>
          <p:cNvGraphicFramePr/>
          <p:nvPr/>
        </p:nvGraphicFramePr>
        <p:xfrm>
          <a:off x="952500" y="78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{B4EEF9CF-E7B1-4E09-A088-A7FC04DA4420}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Fully Qualified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 Domain Name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IP Address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5" name="Google Shape;145;p31"/>
          <p:cNvGraphicFramePr/>
          <p:nvPr/>
        </p:nvGraphicFramePr>
        <p:xfrm>
          <a:off x="952500" y="78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{B4EEF9CF-E7B1-4E09-A088-A7FC04DA4420}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Fully Qualified Domain Name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IP Address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DHCP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https://www.example.com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https://www.example.com</a:t>
            </a:r>
            <a:r>
              <a:rPr lang="en" sz="3500">
                <a:solidFill>
                  <a:srgbClr val="FFFF00"/>
                </a:solidFill>
              </a:rPr>
              <a:t>/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https://www.example.com</a:t>
            </a:r>
            <a:r>
              <a:rPr lang="en" sz="3500">
                <a:solidFill>
                  <a:srgbClr val="FFFF00"/>
                </a:solidFill>
              </a:rPr>
              <a:t>/path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https://www.example.com</a:t>
            </a:r>
            <a:r>
              <a:rPr lang="en" sz="3500">
                <a:solidFill>
                  <a:srgbClr val="FFFF00"/>
                </a:solidFill>
              </a:rPr>
              <a:t>/</a:t>
            </a:r>
            <a:r>
              <a:rPr lang="en" sz="3500">
                <a:solidFill>
                  <a:srgbClr val="FFFF00"/>
                </a:solidFill>
              </a:rPr>
              <a:t>file</a:t>
            </a:r>
            <a:r>
              <a:rPr lang="en" sz="3500">
                <a:solidFill>
                  <a:srgbClr val="FFFF00"/>
                </a:solidFill>
              </a:rPr>
              <a:t>.html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https://www.example.com</a:t>
            </a:r>
            <a:r>
              <a:rPr lang="en" sz="3500">
                <a:solidFill>
                  <a:srgbClr val="FFFF00"/>
                </a:solidFill>
              </a:rPr>
              <a:t>/folder/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https://www.example.com</a:t>
            </a:r>
            <a:r>
              <a:rPr lang="en" sz="3500">
                <a:solidFill>
                  <a:srgbClr val="FFFF00"/>
                </a:solidFill>
              </a:rPr>
              <a:t>/folder/file.html</a:t>
            </a:r>
            <a:endParaRPr sz="3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</a:t>
            </a:r>
            <a:r>
              <a:rPr lang="en" sz="3500">
                <a:solidFill>
                  <a:srgbClr val="FFFF00"/>
                </a:solidFill>
              </a:rPr>
              <a:t>www.example.com</a:t>
            </a:r>
            <a:r>
              <a:rPr lang="en" sz="3500">
                <a:solidFill>
                  <a:srgbClr val="FFFFFF"/>
                </a:solidFill>
              </a:rPr>
              <a:t>/</a:t>
            </a:r>
            <a:r>
              <a:rPr lang="en" sz="3500">
                <a:solidFill>
                  <a:srgbClr val="FFFFFF"/>
                </a:solidFill>
              </a:rPr>
              <a:t>folder/file.html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</a:t>
            </a:r>
            <a:r>
              <a:rPr lang="en" sz="3500">
                <a:solidFill>
                  <a:srgbClr val="FFFF00"/>
                </a:solidFill>
              </a:rPr>
              <a:t>example.com</a:t>
            </a:r>
            <a:r>
              <a:rPr lang="en" sz="3500">
                <a:solidFill>
                  <a:srgbClr val="FFFFFF"/>
                </a:solidFill>
              </a:rPr>
              <a:t>/folder/file.html</a:t>
            </a:r>
            <a:endParaRPr sz="3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https://www.example.</a:t>
            </a:r>
            <a:r>
              <a:rPr lang="en" sz="3500">
                <a:solidFill>
                  <a:srgbClr val="FFFF00"/>
                </a:solidFill>
              </a:rPr>
              <a:t>com</a:t>
            </a:r>
            <a:r>
              <a:rPr lang="en" sz="3500">
                <a:solidFill>
                  <a:srgbClr val="FFFFFF"/>
                </a:solidFill>
              </a:rPr>
              <a:t>/</a:t>
            </a:r>
            <a:r>
              <a:rPr lang="en" sz="3500">
                <a:solidFill>
                  <a:srgbClr val="FFFFFF"/>
                </a:solidFill>
              </a:rPr>
              <a:t>folder/file.html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FF"/>
                </a:solidFill>
              </a:rPr>
              <a:t>https://</a:t>
            </a:r>
            <a:r>
              <a:rPr lang="en" sz="3500">
                <a:solidFill>
                  <a:srgbClr val="FFFF00"/>
                </a:solidFill>
              </a:rPr>
              <a:t>www</a:t>
            </a:r>
            <a:r>
              <a:rPr lang="en" sz="3500">
                <a:solidFill>
                  <a:srgbClr val="FFFFFF"/>
                </a:solidFill>
              </a:rPr>
              <a:t>.example.com/</a:t>
            </a:r>
            <a:r>
              <a:rPr lang="en" sz="3500">
                <a:solidFill>
                  <a:srgbClr val="FFFFFF"/>
                </a:solidFill>
              </a:rPr>
              <a:t>folder/file.html</a:t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rgbClr val="FFFF00"/>
                </a:solidFill>
              </a:rPr>
              <a:t>https</a:t>
            </a:r>
            <a:r>
              <a:rPr lang="en" sz="3500">
                <a:solidFill>
                  <a:srgbClr val="FFFFFF"/>
                </a:solidFill>
              </a:rPr>
              <a:t>://www.example.com/</a:t>
            </a:r>
            <a:r>
              <a:rPr lang="en" sz="3500">
                <a:solidFill>
                  <a:srgbClr val="FFFFFF"/>
                </a:solidFill>
              </a:rPr>
              <a:t>folder/file.html</a:t>
            </a:r>
            <a:endParaRPr sz="3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 HTTP/2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www.harvard.edu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HTTP/2 200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Content-Type: text/html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curl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HTTP/2 301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Location: https://www.harvard.edu/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HTTP/2 404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Content-Type: text/html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200 OK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301 Moved Permanently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302 Found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304 Not Modified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307 Temporary Redirect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401 Unauthorized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403 Forbidden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404 Not Found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418 I'm a Teapot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500 Internal Server Error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503 Service Unavailable</a:t>
            </a:r>
            <a:b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 / HTTP/1.1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Host: safetyschool.org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 tools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HTML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tags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attributes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7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http-server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9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0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1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2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3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4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en</a:t>
            </a: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5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6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7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&lt;head&gt;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8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&lt;/head&gt;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9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&lt;title&gt;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70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&lt;/title&gt;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71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hello, title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72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chemeClr val="lt1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&lt;body&gt;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3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&lt;/body&gt;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4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hello, body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5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66" name="Google Shape;366;p75"/>
          <p:cNvGrpSpPr/>
          <p:nvPr/>
        </p:nvGrpSpPr>
        <p:grpSpPr>
          <a:xfrm>
            <a:off x="4621560" y="412800"/>
            <a:ext cx="3986160" cy="4317875"/>
            <a:chOff x="4621560" y="412800"/>
            <a:chExt cx="3986160" cy="4317875"/>
          </a:xfrm>
        </p:grpSpPr>
        <p:pic>
          <p:nvPicPr>
            <p:cNvPr id="367" name="Google Shape;367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55325" y="412800"/>
              <a:ext cx="3723725" cy="4317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75"/>
            <p:cNvSpPr txBox="1"/>
            <p:nvPr/>
          </p:nvSpPr>
          <p:spPr>
            <a:xfrm>
              <a:off x="4621560" y="4203995"/>
              <a:ext cx="17460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9D9D9"/>
                  </a:solidFill>
                  <a:highlight>
                    <a:srgbClr val="000000"/>
                  </a:highlight>
                  <a:latin typeface="Consolas"/>
                  <a:ea typeface="Consolas"/>
                  <a:cs typeface="Consolas"/>
                  <a:sym typeface="Consolas"/>
                </a:rPr>
                <a:t>hello, title</a:t>
              </a:r>
              <a:endParaRPr sz="1100">
                <a:solidFill>
                  <a:srgbClr val="D9D9D9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69" name="Google Shape;369;p75"/>
            <p:cNvSpPr txBox="1"/>
            <p:nvPr/>
          </p:nvSpPr>
          <p:spPr>
            <a:xfrm>
              <a:off x="6861720" y="3350480"/>
              <a:ext cx="17460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9D9D9"/>
                  </a:solidFill>
                  <a:highlight>
                    <a:srgbClr val="000000"/>
                  </a:highlight>
                  <a:latin typeface="Consolas"/>
                  <a:ea typeface="Consolas"/>
                  <a:cs typeface="Consolas"/>
                  <a:sym typeface="Consolas"/>
                </a:rPr>
                <a:t> hello, body </a:t>
              </a:r>
              <a:endParaRPr sz="1100">
                <a:solidFill>
                  <a:srgbClr val="D9D9D9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/path?key=value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https://www.example.com</a:t>
            </a:r>
            <a:r>
              <a:rPr lang="en" sz="2700">
                <a:solidFill>
                  <a:srgbClr val="FFFF00"/>
                </a:solidFill>
              </a:rPr>
              <a:t>/path?key=value&amp;key=value</a:t>
            </a:r>
            <a:endParaRPr sz="27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expressions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8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regexes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uFill>
                  <a:noFill/>
                </a:uFill>
                <a:hlinkClick r:id="rId3"/>
              </a:rPr>
              <a:t>developer.mozilla.org/en-US/docs/Web/JavaScript/Guide/Regular_expressions</a:t>
            </a:r>
            <a:r>
              <a:rPr lang="en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        any single character (except line terminators)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*        </a:t>
            </a: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zero</a:t>
            </a: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or more times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+        one or more times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?        0 or 1 time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{n}      n occurrences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{n,m}    at least n occurrences, at most m occurrences 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[0123456789]    </a:t>
            </a: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any one of the enclosed characters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[0-9]           </a:t>
            </a: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any one of the range of characters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\d              any digit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\D              any character that is not a digit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6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4"/>
          <p:cNvSpPr txBox="1"/>
          <p:nvPr>
            <p:ph type="title"/>
          </p:nvPr>
        </p:nvSpPr>
        <p:spPr>
          <a:xfrm>
            <a:off x="0" y="2150850"/>
            <a:ext cx="914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Consolas"/>
                <a:ea typeface="Consolas"/>
                <a:cs typeface="Consolas"/>
                <a:sym typeface="Consolas"/>
              </a:rPr>
              <a:t>^[a-zA-Z0-9.!#$%&amp;'*+\/=?^_`{|}~-]+@[a-zA-Z0-9](?:[a-zA-Z0-9-]{0,61}[a-zA-Z0-9])?(?:\.[a-zA-Z0-9](?:[a-zA-Z0-9-]{0,61}[a-zA-Z0-9])?)*$</a:t>
            </a:r>
            <a:endParaRPr sz="9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8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 tools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8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validator.w3.org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8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CSS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8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properties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type selector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class selector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ID selector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attribute selector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</a:rPr>
              <a:t>...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90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91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92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&lt;style&gt;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&lt;/style&gt;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93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&lt;style&gt;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&lt;/style&gt;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94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5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&lt;link href="styles.css" rel="stylesheet"&gt;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9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developer tools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9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frameworks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9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9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getbootstrap.com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0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JavaScript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01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00" name="Google Shape;500;p101"/>
          <p:cNvGrpSpPr/>
          <p:nvPr/>
        </p:nvGrpSpPr>
        <p:grpSpPr>
          <a:xfrm>
            <a:off x="4621560" y="412800"/>
            <a:ext cx="3986160" cy="4317875"/>
            <a:chOff x="4621560" y="412800"/>
            <a:chExt cx="3986160" cy="4317875"/>
          </a:xfrm>
        </p:grpSpPr>
        <p:pic>
          <p:nvPicPr>
            <p:cNvPr id="501" name="Google Shape;501;p10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55325" y="412800"/>
              <a:ext cx="3723725" cy="4317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101"/>
            <p:cNvSpPr txBox="1"/>
            <p:nvPr/>
          </p:nvSpPr>
          <p:spPr>
            <a:xfrm>
              <a:off x="4621560" y="4203995"/>
              <a:ext cx="17460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9D9D9"/>
                  </a:solidFill>
                  <a:highlight>
                    <a:srgbClr val="000000"/>
                  </a:highlight>
                  <a:latin typeface="Consolas"/>
                  <a:ea typeface="Consolas"/>
                  <a:cs typeface="Consolas"/>
                  <a:sym typeface="Consolas"/>
                </a:rPr>
                <a:t>hello, title</a:t>
              </a:r>
              <a:endParaRPr sz="1100">
                <a:solidFill>
                  <a:srgbClr val="D9D9D9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03" name="Google Shape;503;p101"/>
            <p:cNvSpPr txBox="1"/>
            <p:nvPr/>
          </p:nvSpPr>
          <p:spPr>
            <a:xfrm>
              <a:off x="6861720" y="3350480"/>
              <a:ext cx="1746000" cy="3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D9D9D9"/>
                  </a:solidFill>
                  <a:highlight>
                    <a:srgbClr val="000000"/>
                  </a:highlight>
                  <a:latin typeface="Consolas"/>
                  <a:ea typeface="Consolas"/>
                  <a:cs typeface="Consolas"/>
                  <a:sym typeface="Consolas"/>
                </a:rPr>
                <a:t> hello, body </a:t>
              </a:r>
              <a:endParaRPr sz="1100">
                <a:solidFill>
                  <a:srgbClr val="D9D9D9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0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0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0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03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6" name="Google Shape;516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125" y="1933432"/>
            <a:ext cx="2801350" cy="1276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0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0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04"/>
          <p:cNvSpPr txBox="1"/>
          <p:nvPr/>
        </p:nvSpPr>
        <p:spPr>
          <a:xfrm>
            <a:off x="4477650" y="1692300"/>
            <a:ext cx="43767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24" name="Google Shape;52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125" y="1933432"/>
            <a:ext cx="2801350" cy="1276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0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0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05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32" name="Google Shape;532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75" y="1639638"/>
            <a:ext cx="2806225" cy="1863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06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06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106"/>
          <p:cNvSpPr txBox="1"/>
          <p:nvPr/>
        </p:nvSpPr>
        <p:spPr>
          <a:xfrm>
            <a:off x="3972750" y="1384950"/>
            <a:ext cx="4856100" cy="23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0" name="Google Shape;540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75" y="1639638"/>
            <a:ext cx="2806225" cy="1863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0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0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07"/>
          <p:cNvSpPr txBox="1"/>
          <p:nvPr/>
        </p:nvSpPr>
        <p:spPr>
          <a:xfrm>
            <a:off x="4029600" y="918450"/>
            <a:ext cx="4742400" cy="33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48" name="Google Shape;548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50" y="918600"/>
            <a:ext cx="2905704" cy="330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08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08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08"/>
          <p:cNvSpPr txBox="1"/>
          <p:nvPr/>
        </p:nvSpPr>
        <p:spPr>
          <a:xfrm>
            <a:off x="4029600" y="918450"/>
            <a:ext cx="4742400" cy="33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(x &lt; y)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(x &gt; y)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56" name="Google Shape;556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50" y="918600"/>
            <a:ext cx="2905704" cy="330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0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1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1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10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counter = 0;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69" name="Google Shape;569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11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11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11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let counter = 0;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77" name="Google Shape;577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15125"/>
            <a:ext cx="2743200" cy="71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12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12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12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85" name="Google Shape;585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13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13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13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93" name="Google Shape;593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14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14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14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 += 1;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01" name="Google Shape;601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247900"/>
            <a:ext cx="2743200" cy="647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15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15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15"/>
          <p:cNvSpPr txBox="1"/>
          <p:nvPr/>
        </p:nvSpPr>
        <p:spPr>
          <a:xfrm>
            <a:off x="4747500" y="1959300"/>
            <a:ext cx="33066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counter++;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09" name="Google Shape;609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713" y="2172425"/>
            <a:ext cx="2968165" cy="79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17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17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17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for (let i = 0; i &lt; 3; i++)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22" name="Google Shape;622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863" y="1806975"/>
            <a:ext cx="2207875" cy="152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18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18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18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for (let i = 0; i &lt; 3; i++)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30" name="Google Shape;630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863" y="1806975"/>
            <a:ext cx="2207875" cy="1529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19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19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19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38" name="Google Shape;638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100" y="1887900"/>
            <a:ext cx="2121400" cy="1367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00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20"/>
          <p:cNvSpPr/>
          <p:nvPr/>
        </p:nvSpPr>
        <p:spPr>
          <a:xfrm>
            <a:off x="3657600" y="-150"/>
            <a:ext cx="54864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20"/>
          <p:cNvSpPr/>
          <p:nvPr/>
        </p:nvSpPr>
        <p:spPr>
          <a:xfrm>
            <a:off x="0" y="-150"/>
            <a:ext cx="36576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20"/>
          <p:cNvSpPr txBox="1"/>
          <p:nvPr/>
        </p:nvSpPr>
        <p:spPr>
          <a:xfrm>
            <a:off x="4477650" y="1692300"/>
            <a:ext cx="3846300" cy="17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(true)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46" name="Google Shape;646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100" y="1887900"/>
            <a:ext cx="2121400" cy="13674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21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22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23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&lt;script src="scripts.js"&gt;&lt;/script&gt;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24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&lt;/script&gt;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25"/>
          <p:cNvSpPr txBox="1"/>
          <p:nvPr>
            <p:ph idx="1" type="body"/>
          </p:nvPr>
        </p:nvSpPr>
        <p:spPr>
          <a:xfrm>
            <a:off x="311700" y="694800"/>
            <a:ext cx="8520600" cy="37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&lt;!DOCTYPE 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&lt;html lang="en"&gt;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&lt;head&gt;</a:t>
            </a:r>
            <a:endParaRPr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    hello, title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&lt;/title&gt;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&lt;/head&gt;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hello, body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  <a:latin typeface="Consolas"/>
                <a:ea typeface="Consolas"/>
                <a:cs typeface="Consolas"/>
                <a:sym typeface="Consolas"/>
              </a:rPr>
              <a:t>&lt;script src="scripts.js"&gt;&lt;/script&gt;</a:t>
            </a:r>
            <a:endParaRPr>
              <a:solidFill>
                <a:srgbClr val="000000"/>
              </a:solidFill>
              <a:highlight>
                <a:schemeClr val="dk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&lt;/body&gt;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&lt;/html&gt;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26"/>
          <p:cNvSpPr txBox="1"/>
          <p:nvPr>
            <p:ph idx="1" type="body"/>
          </p:nvPr>
        </p:nvSpPr>
        <p:spPr>
          <a:xfrm>
            <a:off x="311700" y="310500"/>
            <a:ext cx="8520600" cy="45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blur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change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click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drag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focus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keyup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load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mousedown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mouseover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mouseup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submit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touchmove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unload</a:t>
            </a:r>
            <a:b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..</a:t>
            </a:r>
            <a:r>
              <a:rPr lang="en" sz="17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endParaRPr sz="17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