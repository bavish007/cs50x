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305B26-24E7-4DBC-9D78-9BCF0EF84426}">
  <a:tblStyle styleId="{B2305B26-24E7-4DBC-9D78-9BCF0EF844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slide" Target="slides/slide187.xml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slide" Target="slides/slide191.xml"/><Relationship Id="rId14" Type="http://schemas.openxmlformats.org/officeDocument/2006/relationships/slide" Target="slides/slide7.xml"/><Relationship Id="rId197" Type="http://schemas.openxmlformats.org/officeDocument/2006/relationships/slide" Target="slides/slide190.xml"/><Relationship Id="rId17" Type="http://schemas.openxmlformats.org/officeDocument/2006/relationships/slide" Target="slides/slide10.xml"/><Relationship Id="rId196" Type="http://schemas.openxmlformats.org/officeDocument/2006/relationships/slide" Target="slides/slide189.xml"/><Relationship Id="rId16" Type="http://schemas.openxmlformats.org/officeDocument/2006/relationships/slide" Target="slides/slide9.xml"/><Relationship Id="rId195" Type="http://schemas.openxmlformats.org/officeDocument/2006/relationships/slide" Target="slides/slide188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slide" Target="slides/slide192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228" Type="http://schemas.openxmlformats.org/officeDocument/2006/relationships/slide" Target="slides/slide221.xml"/><Relationship Id="rId106" Type="http://schemas.openxmlformats.org/officeDocument/2006/relationships/slide" Target="slides/slide99.xml"/><Relationship Id="rId227" Type="http://schemas.openxmlformats.org/officeDocument/2006/relationships/slide" Target="slides/slide220.xml"/><Relationship Id="rId105" Type="http://schemas.openxmlformats.org/officeDocument/2006/relationships/slide" Target="slides/slide98.xml"/><Relationship Id="rId226" Type="http://schemas.openxmlformats.org/officeDocument/2006/relationships/slide" Target="slides/slide219.xml"/><Relationship Id="rId104" Type="http://schemas.openxmlformats.org/officeDocument/2006/relationships/slide" Target="slides/slide97.xml"/><Relationship Id="rId225" Type="http://schemas.openxmlformats.org/officeDocument/2006/relationships/slide" Target="slides/slide218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229" Type="http://schemas.openxmlformats.org/officeDocument/2006/relationships/slide" Target="slides/slide222.xml"/><Relationship Id="rId220" Type="http://schemas.openxmlformats.org/officeDocument/2006/relationships/slide" Target="slides/slide213.xml"/><Relationship Id="rId103" Type="http://schemas.openxmlformats.org/officeDocument/2006/relationships/slide" Target="slides/slide96.xml"/><Relationship Id="rId224" Type="http://schemas.openxmlformats.org/officeDocument/2006/relationships/slide" Target="slides/slide217.xml"/><Relationship Id="rId102" Type="http://schemas.openxmlformats.org/officeDocument/2006/relationships/slide" Target="slides/slide95.xml"/><Relationship Id="rId223" Type="http://schemas.openxmlformats.org/officeDocument/2006/relationships/slide" Target="slides/slide216.xml"/><Relationship Id="rId101" Type="http://schemas.openxmlformats.org/officeDocument/2006/relationships/slide" Target="slides/slide94.xml"/><Relationship Id="rId222" Type="http://schemas.openxmlformats.org/officeDocument/2006/relationships/slide" Target="slides/slide215.xml"/><Relationship Id="rId100" Type="http://schemas.openxmlformats.org/officeDocument/2006/relationships/slide" Target="slides/slide93.xml"/><Relationship Id="rId221" Type="http://schemas.openxmlformats.org/officeDocument/2006/relationships/slide" Target="slides/slide214.xml"/><Relationship Id="rId217" Type="http://schemas.openxmlformats.org/officeDocument/2006/relationships/slide" Target="slides/slide210.xml"/><Relationship Id="rId216" Type="http://schemas.openxmlformats.org/officeDocument/2006/relationships/slide" Target="slides/slide209.xml"/><Relationship Id="rId215" Type="http://schemas.openxmlformats.org/officeDocument/2006/relationships/slide" Target="slides/slide208.xml"/><Relationship Id="rId214" Type="http://schemas.openxmlformats.org/officeDocument/2006/relationships/slide" Target="slides/slide207.xml"/><Relationship Id="rId219" Type="http://schemas.openxmlformats.org/officeDocument/2006/relationships/slide" Target="slides/slide212.xml"/><Relationship Id="rId218" Type="http://schemas.openxmlformats.org/officeDocument/2006/relationships/slide" Target="slides/slide211.xml"/><Relationship Id="rId213" Type="http://schemas.openxmlformats.org/officeDocument/2006/relationships/slide" Target="slides/slide206.xml"/><Relationship Id="rId212" Type="http://schemas.openxmlformats.org/officeDocument/2006/relationships/slide" Target="slides/slide205.xml"/><Relationship Id="rId211" Type="http://schemas.openxmlformats.org/officeDocument/2006/relationships/slide" Target="slides/slide204.xml"/><Relationship Id="rId210" Type="http://schemas.openxmlformats.org/officeDocument/2006/relationships/slide" Target="slides/slide20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230" Type="http://schemas.openxmlformats.org/officeDocument/2006/relationships/slide" Target="slides/slide223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206" Type="http://schemas.openxmlformats.org/officeDocument/2006/relationships/slide" Target="slides/slide199.xml"/><Relationship Id="rId205" Type="http://schemas.openxmlformats.org/officeDocument/2006/relationships/slide" Target="slides/slide198.xml"/><Relationship Id="rId204" Type="http://schemas.openxmlformats.org/officeDocument/2006/relationships/slide" Target="slides/slide197.xml"/><Relationship Id="rId203" Type="http://schemas.openxmlformats.org/officeDocument/2006/relationships/slide" Target="slides/slide196.xml"/><Relationship Id="rId209" Type="http://schemas.openxmlformats.org/officeDocument/2006/relationships/slide" Target="slides/slide202.xml"/><Relationship Id="rId208" Type="http://schemas.openxmlformats.org/officeDocument/2006/relationships/slide" Target="slides/slide201.xml"/><Relationship Id="rId207" Type="http://schemas.openxmlformats.org/officeDocument/2006/relationships/slide" Target="slides/slide200.xml"/><Relationship Id="rId202" Type="http://schemas.openxmlformats.org/officeDocument/2006/relationships/slide" Target="slides/slide195.xml"/><Relationship Id="rId201" Type="http://schemas.openxmlformats.org/officeDocument/2006/relationships/slide" Target="slides/slide194.xml"/><Relationship Id="rId200" Type="http://schemas.openxmlformats.org/officeDocument/2006/relationships/slide" Target="slides/slide19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pps.apple.com/us/app/contacts/id1069512615#?platform=iphone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intendo.fandom.com/wiki/Nintendo_characters#Mario_series_(including_sub-franchises)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etsy.com/listing/926075105/monopoly-money-vintage-fabric-half-yard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pinterest.com/pin/525443481522247447/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pinterest.com/pin/525443481522247447/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s.usfca.edu/~galles/visualization/ComparisonSort.html" TargetMode="Externa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s.usfca.edu/~galles/visualization/ComparisonSort.html" TargetMode="Externa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s.usfca.edu/~galles/visualization/ComparisonSort.html" TargetMode="Externa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ZZuD6iUe3Pc" TargetMode="External"/><Relationship Id="rId3" Type="http://schemas.openxmlformats.org/officeDocument/2006/relationships/hyperlink" Target="https://www.youtubeeducation.com/watch?v=3WDWH59k1q4" TargetMode="Externa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5ed590c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5ed590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Uncheck VS Code tabs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5ed590c8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5ed590c8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5ed590c8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5ed590c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Uncheck VS Code tabs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3063c11d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83063c11d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3063c11d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3063c11d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3063c11d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83063c11d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83063c11d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83063c11d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3063c11d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3063c11d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83063c11d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83063c11d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3063c11d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3063c11d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83063c11d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83063c11d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55ed590c8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55ed590c8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Week 0, intuitive algorithms…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Harvard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401269f5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401269f5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401269f5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401269f5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401269f54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401269f5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401269f5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401269f5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401269f54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401269f5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55ed590c8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55ed590c8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55ed590c8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55ed590c8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55ed590c8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55ed590c8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55ed590c8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55ed590c8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55ed590c85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55ed590c85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5ed590c85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5ed590c85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55ed590c8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55ed590c8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55ed590c85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55ed590c85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55ed590c85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55ed590c85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5ed590c85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5ed590c85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55ed590c85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55ed590c85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5ed590c85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55ed590c85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55ed590c85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55ed590c85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55ed590c8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55ed590c8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https://www.etsy.com/listing/926075105/monopoly-money-vintage-fabric-half-yard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55ed590c85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55ed590c8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https://www.pinterest.com/pin/525443481522247447/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55ed590c8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55ed590c8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20  500  10  </a:t>
            </a:r>
            <a:r>
              <a:rPr lang="en"/>
              <a:t>5  100  </a:t>
            </a:r>
            <a:r>
              <a:rPr lang="en">
                <a:solidFill>
                  <a:schemeClr val="dk1"/>
                </a:solidFill>
              </a:rPr>
              <a:t>1  </a:t>
            </a:r>
            <a:r>
              <a:rPr b="1" lang="en">
                <a:solidFill>
                  <a:schemeClr val="dk1"/>
                </a:solidFill>
              </a:rPr>
              <a:t>50</a:t>
            </a:r>
            <a:endParaRPr b="1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5ed590c8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5ed590c8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55ed590c85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55ed590c85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55ed590c85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55ed590c85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55ed590c8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55ed590c8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55ed590c85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55ed590c85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https://www.pinterest.com/pin/525443481522247447/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55ed590c85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55ed590c85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1  5  10  20  </a:t>
            </a:r>
            <a:r>
              <a:rPr b="1" lang="en">
                <a:solidFill>
                  <a:schemeClr val="dk1"/>
                </a:solidFill>
              </a:rPr>
              <a:t>50</a:t>
            </a:r>
            <a:r>
              <a:rPr lang="en">
                <a:solidFill>
                  <a:schemeClr val="dk1"/>
                </a:solidFill>
              </a:rPr>
              <a:t>  100  500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55ed590c85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55ed590c85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55ed590c85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55ed590c85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5ed590c85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5ed590c85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5ed590c8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5ed590c8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9976d39bb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9976d39bb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9976d39bb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9976d39bb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9976d39bb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9976d39bb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76d39bb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76d39bb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976d39bb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976d39bb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9976d39bb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9976d39bb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9976d39bb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9976d39bb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55ed590c8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55ed590c8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9976d39bb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9976d39bb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linear? binary?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55ed590c85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55ed590c85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55ed590c85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55ed590c85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99ff46a780_2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99ff46a780_2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9976d39bb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9976d39bb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linear? binary?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9976d39bb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9976d39bb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55ed590c85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55ed590c85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55ed590c8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55ed590c8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5ed590c85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55ed590c85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0427bc4c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0427bc4c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55ed590c85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55ed590c85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search0.c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83063c11d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83063c11d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83063c11d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83063c11d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83063c11d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83063c11d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search1.c, </a:t>
            </a:r>
            <a:r>
              <a:rPr lang="en">
                <a:solidFill>
                  <a:schemeClr val="dk1"/>
                </a:solidFill>
              </a:rPr>
              <a:t>phonebook0.c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99ff46a780_2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99ff46a780_2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615cd08c5b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615cd08c5b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61549dec7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61549dec7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61549dec7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61549dec7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83063c11d6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83063c11d6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phonebook1.c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see a way to save phonebook eventually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56ad5d3783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56ad5d3783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615bc47d7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615bc47d7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615bc47d73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615bc47d73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615bc47d7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615bc47d7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61648c258e_9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61648c258e_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0401269f5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0401269f5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66355719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66355719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0401269f5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0401269f5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volunteers: sort themselves, then selection, then bubble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615bc47d73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615bc47d73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https://www.cs.usfca.edu/~galles/visualization/ComparisonSort.html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dc48ccb89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dc48ccb89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edc48ccb89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edc48ccb89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55ed590c85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55ed590c85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0427bc4c1c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0427bc4c1c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0427bc4c1c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0427bc4c1c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0427bc4c1c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0427bc4c1c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0427bc4c1c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0427bc4c1c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0427bc4c1c_3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0427bc4c1c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0427bc4c1c_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0427bc4c1c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0427bc4c1c_3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0427bc4c1c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0427bc4c1c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0427bc4c1c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0427bc4c1c_3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0427bc4c1c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0427bc4c1c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0427bc4c1c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0427bc4c1c_3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0427bc4c1c_3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61648c258e_9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61648c258e_9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61648c258e_9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61648c258e_9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55ed590c85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55ed590c85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61648c258e_9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61648c258e_9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61648c258e_9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61648c258e_9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61648c258e_9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61648c258e_9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61648c258e_9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61648c258e_9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61648c258e_9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61648c258e_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615cd08c5b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615cd08c5b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615cd08c5b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615cd08c5b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61648c258e_9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61648c258e_9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lower bound?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55ed590c85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55ed590c85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615cd08c5b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615cd08c5b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615cd08c5b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615cd08c5b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edc48ccb8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edc48ccb8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edc48ccb8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edc48ccb8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9976d39bb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9976d39bb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https://www.cs.usfca.edu/~galles/visualization/ComparisonSort.html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0401269f5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0401269f5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0401269f5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0401269f5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0401269f5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0401269f5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55ed590c85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55ed590c85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0401269f5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0401269f5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0401269f5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0401269f5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0401269f5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0401269f5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0401269f5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0401269f5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0401269f5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0401269f5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0401269f5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0401269f5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0401269f54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0401269f5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0401269f5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0401269f5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0401269f5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0401269f5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0401269f5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0401269f5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0401269f5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0401269f5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0401269f5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0401269f5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0401269f5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0401269f5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0401269f5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0401269f5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0427bc4c1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0427bc4c1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0401269f5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0401269f5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0401269f5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0401269f5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0401269f5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0401269f5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0401269f54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0401269f54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0401269f5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0401269f5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0401269f54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0401269f54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9976d39bb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9976d39bb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9976d39bb8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9976d39bb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9976d39bb8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9976d39bb8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9976d39bb8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9976d39bb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9976d39bb8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9976d39bb8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9976d39bb8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9976d39bb8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55ed590c85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55ed590c85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9976d39bb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9976d39bb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9976d39bb8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9976d39bb8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9976d39bb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9976d39bb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615cd08dea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615cd08de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edc48ccb8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edc48ccb8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edc48ccb8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edc48ccb8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9976d39bb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9976d39bb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9976d39bb8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9976d39bb8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9976d39bb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9976d39bb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9976d39bb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9976d39bb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976d39bb8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976d39bb8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615cd08c5b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615cd08c5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http://ian-albert.com/games/super_mario_bros_maps/</a:t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615cd08c5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615cd08c5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615cd08c5b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615cd08c5b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615cd08c5b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615cd08c5b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615cd08c5b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615cd08c5b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615cd08c5b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615cd08c5b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recursion.c</a:t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55ed590c85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55ed590c85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9976d39bb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9976d39bb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615bc47d7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615bc47d7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9976d39bb8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9976d39bb8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9976d39bb8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9976d39bb8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f0f81ef8e0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f0f81ef8e0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shelves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9976d39bb8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9976d39bb8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https://www.cs.usfca.edu/~galles/visualization/ComparisonSort.html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83063c11d6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83063c11d6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shelves</a:t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83063c11d6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83063c11d6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83063c11d6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83063c11d6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83063c11d6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83063c11d6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83063c11d6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83063c11d6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83063c11d6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83063c11d6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83063c11d6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83063c11d6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83063c11d6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83063c11d6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83063c11d6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83063c11d6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83063c11d6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83063c11d6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83063c11d6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83063c11d6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83063c11d6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83063c11d6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83063c11d6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283063c11d6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83063c11d6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83063c11d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83063c11d6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83063c11d6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83063c11d6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83063c11d6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83063c11d6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83063c11d6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83063c11d6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83063c11d6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83063c11d6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83063c11d6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83063c11d6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83063c11d6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83063c11d6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83063c11d6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83063c11d6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83063c11d6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83063c11d6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83063c11d6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83063c11d6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83063c11d6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83063c11d6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83063c11d6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83063c11d6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83063c11d6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83063c11d6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83063c11d6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83063c11d6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83063c11d6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83063c11d6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83063c11d6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83063c11d6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83063c11d6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283063c11d6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283063c11d6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83063c11d6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83063c11d6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83063c11d6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83063c11d6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83063c11d6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83063c11d6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283063c11d6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83063c11d6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283063c11d6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283063c11d6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83063c11d6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83063c11d6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83063c11d6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83063c11d6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83063c11d6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83063c11d6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83063c11d6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83063c11d6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83063c11d6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83063c11d6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83063c11d6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83063c11d6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615cd08c5b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615cd08c5b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83063c11d6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83063c11d6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83c13df276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83c13df276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83063c11d6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83063c11d6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83063c11d6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283063c11d6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83063c11d6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83063c11d6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83063c11d6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83063c11d6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0401269f5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30401269f5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83063c11d6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83063c11d6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83063c11d6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83063c11d6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615cd08c5b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615cd08c5b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615cd08c5b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615cd08c5b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615cd08c5b_2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615cd08c5b_2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615cd08c5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615cd08c5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https://www.youtube.com/watch?v=ZZuD6iUe3Pc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https://www.youtubeeducation.com/watch?v=3WDWH59k1q4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155ed590c8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155ed590c8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Uncheck VS Code tabs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manual.cs50.io/#string.h" TargetMode="Externa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9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2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6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3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8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5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0.xml"/><Relationship Id="rId3" Type="http://schemas.openxmlformats.org/officeDocument/2006/relationships/hyperlink" Target="https://www.google.com/search?q=recursion" TargetMode="Externa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2.xml"/><Relationship Id="rId3" Type="http://schemas.openxmlformats.org/officeDocument/2006/relationships/hyperlink" Target="http://www.youtube.com/watch?v=3WDWH59k1q4" TargetMode="External"/><Relationship Id="rId4" Type="http://schemas.openxmlformats.org/officeDocument/2006/relationships/image" Target="../media/image20.jpg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you didn't get a </a:t>
            </a:r>
            <a:r>
              <a:rPr lang="en" sz="1700">
                <a:solidFill>
                  <a:srgbClr val="FFFF00"/>
                </a:solidFill>
              </a:rPr>
              <a:t>rubber duck</a:t>
            </a:r>
            <a:r>
              <a:rPr lang="en" sz="1700">
                <a:solidFill>
                  <a:schemeClr val="dk1"/>
                </a:solidFill>
              </a:rPr>
              <a:t> 🦆 last week, ask Kelly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Today's snacks, Hello Panda Chocolate Biscuits. 🐼 🍫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rgbClr val="FFFF00"/>
                </a:solidFill>
              </a:rPr>
              <a:t>or ask questions</a:t>
            </a:r>
            <a:r>
              <a:rPr lang="en" sz="1700">
                <a:solidFill>
                  <a:schemeClr val="dk1"/>
                </a:solidFill>
              </a:rPr>
              <a:t>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9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0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28" name="Google Shape;128;p30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1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35" name="Google Shape;135;p31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36" name="Google Shape;136;p31"/>
          <p:cNvSpPr txBox="1"/>
          <p:nvPr/>
        </p:nvSpPr>
        <p:spPr>
          <a:xfrm>
            <a:off x="7254138" y="2851275"/>
            <a:ext cx="1176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log</a:t>
            </a:r>
            <a:r>
              <a:rPr baseline="-25000" lang="en" sz="2400">
                <a:solidFill>
                  <a:srgbClr val="FFFFFF"/>
                </a:solidFill>
                <a:highlight>
                  <a:srgbClr val="000000"/>
                </a:highlight>
              </a:rPr>
              <a:t>2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i="1"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rgbClr val="FFFFFF"/>
                </a:solidFill>
              </a:rPr>
            </a:b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Stand up and think of the number 1.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rgbClr val="FFFFFF"/>
                </a:solidFill>
              </a:rPr>
            </a:b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Stand up and think of the number 1.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Pair off with someone standing, add their number to yours, and remember the sum.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rgbClr val="FFFFFF"/>
                </a:solidFill>
              </a:rPr>
            </a:b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Stand up and think of the number 1.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Pair off with someone standing, add their number to yours, and remember the sum.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One of you should then sit down.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rgbClr val="FFFFFF"/>
                </a:solidFill>
              </a:rPr>
            </a:b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Stand up and think of the number 1.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Pair off with someone standing, add their number to yours, and remember the sum.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One of you should then sit down.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If still standing, go back to step 2.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7"/>
          <p:cNvPicPr preferRelativeResize="0"/>
          <p:nvPr/>
        </p:nvPicPr>
        <p:blipFill rotWithShape="1">
          <a:blip r:embed="rId3">
            <a:alphaModFix/>
          </a:blip>
          <a:srcRect b="14965" l="0" r="0" t="6516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8"/>
          <p:cNvPicPr preferRelativeResize="0"/>
          <p:nvPr/>
        </p:nvPicPr>
        <p:blipFill rotWithShape="1">
          <a:blip r:embed="rId3">
            <a:alphaModFix/>
          </a:blip>
          <a:srcRect b="10741" l="0" r="0" t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9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0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84" name="Google Shape;184;p40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1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91" name="Google Shape;191;p41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92" name="Google Shape;192;p41"/>
          <p:cNvSpPr txBox="1"/>
          <p:nvPr/>
        </p:nvSpPr>
        <p:spPr>
          <a:xfrm>
            <a:off x="7254138" y="2851275"/>
            <a:ext cx="1176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log</a:t>
            </a:r>
            <a:r>
              <a:rPr baseline="-25000" lang="en" sz="2400">
                <a:solidFill>
                  <a:srgbClr val="FFFFFF"/>
                </a:solidFill>
                <a:highlight>
                  <a:srgbClr val="000000"/>
                </a:highlight>
              </a:rPr>
              <a:t>2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i="1"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9275" y="-2362200"/>
            <a:ext cx="1828802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9275" y="-2362200"/>
            <a:ext cx="18288026" cy="10287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03" name="Google Shape;203;p43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43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43"/>
          <p:cNvCxnSpPr/>
          <p:nvPr/>
        </p:nvCxnSpPr>
        <p:spPr>
          <a:xfrm>
            <a:off x="45720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43"/>
          <p:cNvCxnSpPr/>
          <p:nvPr/>
        </p:nvCxnSpPr>
        <p:spPr>
          <a:xfrm>
            <a:off x="41148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43"/>
          <p:cNvCxnSpPr/>
          <p:nvPr/>
        </p:nvCxnSpPr>
        <p:spPr>
          <a:xfrm>
            <a:off x="5038725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43"/>
          <p:cNvCxnSpPr/>
          <p:nvPr/>
        </p:nvCxnSpPr>
        <p:spPr>
          <a:xfrm>
            <a:off x="38862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43"/>
          <p:cNvCxnSpPr/>
          <p:nvPr/>
        </p:nvCxnSpPr>
        <p:spPr>
          <a:xfrm>
            <a:off x="43434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43"/>
          <p:cNvCxnSpPr/>
          <p:nvPr/>
        </p:nvCxnSpPr>
        <p:spPr>
          <a:xfrm>
            <a:off x="4800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43"/>
          <p:cNvCxnSpPr/>
          <p:nvPr/>
        </p:nvCxnSpPr>
        <p:spPr>
          <a:xfrm>
            <a:off x="529552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43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43"/>
          <p:cNvCxnSpPr/>
          <p:nvPr/>
        </p:nvCxnSpPr>
        <p:spPr>
          <a:xfrm>
            <a:off x="3638550" y="25622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43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43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43"/>
          <p:cNvCxnSpPr/>
          <p:nvPr/>
        </p:nvCxnSpPr>
        <p:spPr>
          <a:xfrm>
            <a:off x="3638550" y="216223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43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43"/>
          <p:cNvCxnSpPr/>
          <p:nvPr/>
        </p:nvCxnSpPr>
        <p:spPr>
          <a:xfrm>
            <a:off x="3638550" y="113353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43"/>
          <p:cNvCxnSpPr/>
          <p:nvPr/>
        </p:nvCxnSpPr>
        <p:spPr>
          <a:xfrm>
            <a:off x="3638550" y="155263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43"/>
          <p:cNvCxnSpPr/>
          <p:nvPr/>
        </p:nvCxnSpPr>
        <p:spPr>
          <a:xfrm>
            <a:off x="3638550" y="196221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43"/>
          <p:cNvCxnSpPr/>
          <p:nvPr/>
        </p:nvCxnSpPr>
        <p:spPr>
          <a:xfrm>
            <a:off x="3638550" y="23717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43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43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43"/>
          <p:cNvCxnSpPr/>
          <p:nvPr/>
        </p:nvCxnSpPr>
        <p:spPr>
          <a:xfrm>
            <a:off x="3638550" y="299571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43"/>
          <p:cNvCxnSpPr/>
          <p:nvPr/>
        </p:nvCxnSpPr>
        <p:spPr>
          <a:xfrm>
            <a:off x="3638550" y="276711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43"/>
          <p:cNvCxnSpPr/>
          <p:nvPr/>
        </p:nvCxnSpPr>
        <p:spPr>
          <a:xfrm>
            <a:off x="3638550" y="318621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43"/>
          <p:cNvCxnSpPr/>
          <p:nvPr/>
        </p:nvCxnSpPr>
        <p:spPr>
          <a:xfrm>
            <a:off x="3638550" y="35957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43"/>
          <p:cNvCxnSpPr/>
          <p:nvPr/>
        </p:nvCxnSpPr>
        <p:spPr>
          <a:xfrm>
            <a:off x="3638550" y="40053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4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45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46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7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47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7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7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7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7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7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7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48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[4]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[5]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[6]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48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8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8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8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8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8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8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49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[4]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[5]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[6]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49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9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9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9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9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9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9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1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91" name="Google Shape;291;p51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75" y="2436988"/>
            <a:ext cx="1961949" cy="3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2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2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99" name="Google Shape;299;p52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300" name="Google Shape;300;p52"/>
          <p:cNvSpPr/>
          <p:nvPr/>
        </p:nvSpPr>
        <p:spPr>
          <a:xfrm>
            <a:off x="42584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2"/>
          <p:cNvSpPr/>
          <p:nvPr/>
        </p:nvSpPr>
        <p:spPr>
          <a:xfrm>
            <a:off x="7115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2"/>
          <p:cNvSpPr/>
          <p:nvPr/>
        </p:nvSpPr>
        <p:spPr>
          <a:xfrm>
            <a:off x="9782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2"/>
          <p:cNvSpPr/>
          <p:nvPr/>
        </p:nvSpPr>
        <p:spPr>
          <a:xfrm>
            <a:off x="126404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2"/>
          <p:cNvSpPr/>
          <p:nvPr/>
        </p:nvSpPr>
        <p:spPr>
          <a:xfrm>
            <a:off x="153074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2"/>
          <p:cNvSpPr/>
          <p:nvPr/>
        </p:nvSpPr>
        <p:spPr>
          <a:xfrm>
            <a:off x="18164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2"/>
          <p:cNvSpPr/>
          <p:nvPr/>
        </p:nvSpPr>
        <p:spPr>
          <a:xfrm>
            <a:off x="20831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75" y="2436988"/>
            <a:ext cx="1961949" cy="3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3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3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 </a:t>
            </a:r>
            <a:r>
              <a:rPr lang="en" sz="2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2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53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42584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3"/>
          <p:cNvSpPr/>
          <p:nvPr/>
        </p:nvSpPr>
        <p:spPr>
          <a:xfrm>
            <a:off x="7115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3"/>
          <p:cNvSpPr/>
          <p:nvPr/>
        </p:nvSpPr>
        <p:spPr>
          <a:xfrm>
            <a:off x="9782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3"/>
          <p:cNvSpPr/>
          <p:nvPr/>
        </p:nvSpPr>
        <p:spPr>
          <a:xfrm>
            <a:off x="126404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3"/>
          <p:cNvSpPr/>
          <p:nvPr/>
        </p:nvSpPr>
        <p:spPr>
          <a:xfrm>
            <a:off x="153074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3"/>
          <p:cNvSpPr/>
          <p:nvPr/>
        </p:nvSpPr>
        <p:spPr>
          <a:xfrm>
            <a:off x="18164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3"/>
          <p:cNvSpPr/>
          <p:nvPr/>
        </p:nvSpPr>
        <p:spPr>
          <a:xfrm>
            <a:off x="2083191" y="2578511"/>
            <a:ext cx="36000" cy="3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327" name="Google Shape;327;p54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00250"/>
            <a:ext cx="9144002" cy="9144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333500"/>
            <a:ext cx="47625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search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each door from left to right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Return false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For each door from left to right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each door from left to right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Return false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from 0 to 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doors[i]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Return false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333500"/>
            <a:ext cx="47625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doors[middle]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doors[middle]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doors[0] through doors[middle - 1]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doors[middle]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doors[middle + 1] through doors[n - 1]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time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03" name="Google Shape;403;p69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04" name="Google Shape;404;p69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70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11" name="Google Shape;411;p70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12" name="Google Shape;412;p70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O</a:t>
            </a:r>
            <a:r>
              <a:rPr lang="en" sz="2400"/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/>
              <a:t>)</a:t>
            </a:r>
            <a:endParaRPr sz="2400"/>
          </a:p>
        </p:txBody>
      </p:sp>
      <p:sp>
        <p:nvSpPr>
          <p:cNvPr id="413" name="Google Shape;413;p70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O</a:t>
            </a:r>
            <a:r>
              <a:rPr lang="en" sz="2400"/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/2</a:t>
            </a:r>
            <a:r>
              <a:rPr lang="en" sz="2400"/>
              <a:t>)</a:t>
            </a:r>
            <a:endParaRPr sz="2400"/>
          </a:p>
        </p:txBody>
      </p:sp>
      <p:sp>
        <p:nvSpPr>
          <p:cNvPr id="414" name="Google Shape;414;p70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O</a:t>
            </a:r>
            <a:r>
              <a:rPr lang="en" sz="2400"/>
              <a:t>(</a:t>
            </a:r>
            <a:r>
              <a:rPr lang="en" sz="2400">
                <a:solidFill>
                  <a:srgbClr val="FFFFFF"/>
                </a:solidFill>
              </a:rPr>
              <a:t>log</a:t>
            </a:r>
            <a:r>
              <a:rPr baseline="-25000" lang="en" sz="2400">
                <a:solidFill>
                  <a:srgbClr val="FFFFFF"/>
                </a:solidFill>
              </a:rPr>
              <a:t>2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/>
              <a:t>)</a:t>
            </a:r>
            <a:endParaRPr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71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21" name="Google Shape;421;p71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22" name="Google Shape;422;p71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23" name="Google Shape;423;p71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/2)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24" name="Google Shape;424;p71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2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72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31" name="Google Shape;431;p72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32" name="Google Shape;432;p72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33" name="Google Shape;433;p72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34" name="Google Shape;434;p72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2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73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1" name="Google Shape;441;p73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2" name="Google Shape;442;p73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43" name="Google Shape;443;p73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44" name="Google Shape;444;p73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 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4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0" name="Google Shape;450;p74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1" name="Google Shape;451;p74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52" name="Google Shape;452;p74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 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453" name="Google Shape;45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0"/>
              <a:t>O</a:t>
            </a:r>
            <a:endParaRPr i="1" sz="6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r>
              <a:rPr lang="en">
                <a:solidFill>
                  <a:srgbClr val="666666"/>
                </a:solidFill>
              </a:rPr>
              <a:t>linear search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r>
              <a:rPr lang="en">
                <a:solidFill>
                  <a:srgbClr val="666666"/>
                </a:solidFill>
              </a:rPr>
              <a:t>linear search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       </a:t>
            </a:r>
            <a:r>
              <a:rPr lang="en">
                <a:solidFill>
                  <a:srgbClr val="666666"/>
                </a:solidFill>
              </a:rPr>
              <a:t>binary search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Ω</a:t>
            </a:r>
            <a:endParaRPr sz="6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r>
              <a:rPr lang="en">
                <a:solidFill>
                  <a:srgbClr val="666666"/>
                </a:solidFill>
              </a:rPr>
              <a:t>linear search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r>
              <a:rPr lang="en">
                <a:solidFill>
                  <a:srgbClr val="666666"/>
                </a:solidFill>
              </a:rPr>
              <a:t>linear search, binary search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Θ</a:t>
            </a:r>
            <a:endParaRPr sz="6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asymptotic notation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search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string.h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manual.cs50.io/#string.h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strcmp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 people[2];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9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65" name="Google Shape;565;p9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97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unsorted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72" name="Google Shape;572;p97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98"/>
          <p:cNvSpPr txBox="1"/>
          <p:nvPr/>
        </p:nvSpPr>
        <p:spPr>
          <a:xfrm>
            <a:off x="479547" y="2195550"/>
            <a:ext cx="2730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unsorted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79" name="Google Shape;579;p9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sorted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99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86" name="Google Shape;586;p9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sorted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87" name="Google Shape;587;p99"/>
          <p:cNvSpPr txBox="1"/>
          <p:nvPr/>
        </p:nvSpPr>
        <p:spPr>
          <a:xfrm>
            <a:off x="164425" y="2358150"/>
            <a:ext cx="22203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7 2 5 4 1 6 0 3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0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00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94" name="Google Shape;594;p100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95" name="Google Shape;595;p100"/>
          <p:cNvSpPr txBox="1"/>
          <p:nvPr/>
        </p:nvSpPr>
        <p:spPr>
          <a:xfrm>
            <a:off x="164425" y="2358150"/>
            <a:ext cx="22203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7 2 5 4 1 6 0 3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100"/>
          <p:cNvSpPr txBox="1"/>
          <p:nvPr/>
        </p:nvSpPr>
        <p:spPr>
          <a:xfrm>
            <a:off x="6691151" y="2358150"/>
            <a:ext cx="22203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0 1 2 3 4 5 6 7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0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</a:t>
            </a:r>
            <a:r>
              <a:rPr lang="en"/>
              <a:t> sort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6" name="Google Shape;616;p104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7" name="Google Shape;617;p104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04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04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04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04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04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04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i from 0 to n-1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Find smallest number between numbers[i] and numbers[n-1]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Swap smallest number with numbers[i]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9" name="Google Shape;639;p107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5" name="Google Shape;645;p108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108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108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3" name="Google Shape;653;p109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109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109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1" name="Google Shape;661;p110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2" name="Google Shape;662;p110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3" name="Google Shape;663;p110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9" name="Google Shape;669;p111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0" name="Google Shape;670;p111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1" name="Google Shape;671;p111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7" name="Google Shape;677;p112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8" name="Google Shape;678;p112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9" name="Google Shape;679;p112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p113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113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113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p114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4" name="Google Shape;694;p114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5" name="Google Shape;695;p114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115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115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115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9" name="Google Shape;709;p116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0" name="Google Shape;710;p116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1" name="Google Shape;711;p116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7" name="Google Shape;717;p117"/>
          <p:cNvSpPr txBox="1"/>
          <p:nvPr/>
        </p:nvSpPr>
        <p:spPr>
          <a:xfrm>
            <a:off x="2321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8" name="Google Shape;718;p117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+ 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2)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+ 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2)</a:t>
            </a:r>
            <a:r>
              <a:rPr lang="en">
                <a:solidFill>
                  <a:schemeClr val="dk1"/>
                </a:solidFill>
              </a:rPr>
              <a:t> + 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– 3)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+ 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2)</a:t>
            </a:r>
            <a:r>
              <a:rPr lang="en">
                <a:solidFill>
                  <a:schemeClr val="dk1"/>
                </a:solidFill>
              </a:rPr>
              <a:t> + 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– 3)</a:t>
            </a:r>
            <a:r>
              <a:rPr lang="en">
                <a:solidFill>
                  <a:srgbClr val="FFFFFF"/>
                </a:solidFill>
              </a:rPr>
              <a:t> + ... + 1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1)/2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1)/2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baseline="30000" lang="en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 – n)/2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1)/2</a:t>
            </a:r>
            <a:endParaRPr i="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baseline="30000" lang="en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 n)/2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n</a:t>
            </a:r>
            <a:r>
              <a:rPr baseline="30000" lang="en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/2 –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/2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1)/2</a:t>
            </a:r>
            <a:endParaRPr i="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baseline="30000" lang="en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 n)/2</a:t>
            </a:r>
            <a:endParaRPr i="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baseline="30000" lang="en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/2 – 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/2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selection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from 0 to 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Find smallest number between numbers[i] and numbers[n-1]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Swap smallest number with numbers[i]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" name="Google Shape;778;p129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9" name="Google Shape;779;p129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29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29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29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29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29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29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selection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selection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5" name="Google Shape;815;p135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6" name="Google Shape;816;p135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35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35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35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35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35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35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139"/>
          <p:cNvSpPr txBox="1"/>
          <p:nvPr/>
        </p:nvSpPr>
        <p:spPr>
          <a:xfrm>
            <a:off x="154490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7  5  4  1  6  0  3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9" name="Google Shape;849;p140"/>
          <p:cNvSpPr txBox="1"/>
          <p:nvPr/>
        </p:nvSpPr>
        <p:spPr>
          <a:xfrm>
            <a:off x="154490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2  7  5  4  1  6  0  3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5" name="Google Shape;855;p141"/>
          <p:cNvSpPr txBox="1"/>
          <p:nvPr/>
        </p:nvSpPr>
        <p:spPr>
          <a:xfrm>
            <a:off x="228872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2  5  7  4  1  6  0  3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1" name="Google Shape;861;p142"/>
          <p:cNvSpPr txBox="1"/>
          <p:nvPr/>
        </p:nvSpPr>
        <p:spPr>
          <a:xfrm>
            <a:off x="228872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2  5  7  4  1  6  0  3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7" name="Google Shape;867;p143"/>
          <p:cNvSpPr txBox="1"/>
          <p:nvPr/>
        </p:nvSpPr>
        <p:spPr>
          <a:xfrm>
            <a:off x="3036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2  5  4  7  1  6  0  3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3" name="Google Shape;873;p144"/>
          <p:cNvSpPr txBox="1"/>
          <p:nvPr/>
        </p:nvSpPr>
        <p:spPr>
          <a:xfrm>
            <a:off x="3036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2  5  4  7  1  6  0  3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9" name="Google Shape;879;p145"/>
          <p:cNvSpPr txBox="1"/>
          <p:nvPr/>
        </p:nvSpPr>
        <p:spPr>
          <a:xfrm>
            <a:off x="3798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2  5  4  1  7  6  0  3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5" name="Google Shape;885;p146"/>
          <p:cNvSpPr txBox="1"/>
          <p:nvPr/>
        </p:nvSpPr>
        <p:spPr>
          <a:xfrm>
            <a:off x="3798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2  5  4  1  7  6  0  3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1" name="Google Shape;891;p147"/>
          <p:cNvSpPr txBox="1"/>
          <p:nvPr/>
        </p:nvSpPr>
        <p:spPr>
          <a:xfrm>
            <a:off x="4560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2  5  4  1  6  7  0  3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p148"/>
          <p:cNvSpPr txBox="1"/>
          <p:nvPr/>
        </p:nvSpPr>
        <p:spPr>
          <a:xfrm>
            <a:off x="4560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2  5  4  1  6  7  0  3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3" name="Google Shape;903;p149"/>
          <p:cNvSpPr txBox="1"/>
          <p:nvPr/>
        </p:nvSpPr>
        <p:spPr>
          <a:xfrm>
            <a:off x="5303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9" name="Google Shape;909;p150"/>
          <p:cNvSpPr txBox="1"/>
          <p:nvPr/>
        </p:nvSpPr>
        <p:spPr>
          <a:xfrm>
            <a:off x="5303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5" name="Google Shape;915;p151"/>
          <p:cNvSpPr txBox="1"/>
          <p:nvPr/>
        </p:nvSpPr>
        <p:spPr>
          <a:xfrm>
            <a:off x="6065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2  5  4  1  6  0  3  7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1" name="Google Shape;921;p152"/>
          <p:cNvSpPr txBox="1"/>
          <p:nvPr/>
        </p:nvSpPr>
        <p:spPr>
          <a:xfrm>
            <a:off x="6065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2  5  4  1  6  0  3  7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7" name="Google Shape;927;p153"/>
          <p:cNvSpPr txBox="1"/>
          <p:nvPr/>
        </p:nvSpPr>
        <p:spPr>
          <a:xfrm>
            <a:off x="154490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× 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×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n</a:t>
            </a:r>
            <a:r>
              <a:rPr baseline="30000" lang="en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 – 1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+ 1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×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baseline="30000" lang="en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n</a:t>
            </a:r>
            <a:r>
              <a:rPr baseline="30000" lang="en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 – 2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+ 1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× (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baseline="30000" lang="en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n</a:t>
            </a:r>
            <a:r>
              <a:rPr baseline="30000" lang="en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 2</a:t>
            </a:r>
            <a:r>
              <a:rPr i="1" lang="en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+ 1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baseline="30000" lang="en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bubble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no swaps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    </a:t>
            </a:r>
            <a:r>
              <a:rPr lang="en">
                <a:solidFill>
                  <a:srgbClr val="666666"/>
                </a:solidFill>
              </a:rPr>
              <a:t>bubble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 behind middle door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if number &lt; middle door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if number &gt; middle door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number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number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left half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number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right half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73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74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75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Open to middle of left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Open to middle of right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</a:t>
            </a:r>
            <a:r>
              <a:rPr lang="en" sz="22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76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left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right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77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left half of book</a:t>
            </a:r>
            <a:endParaRPr sz="22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    </a:t>
            </a:r>
            <a:r>
              <a:rPr lang="en" sz="22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right half of book</a:t>
            </a:r>
            <a:endParaRPr sz="22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Google Shape;1062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8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google.com/search?q=recursion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sort</a:t>
            </a:r>
            <a:endParaRPr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left half of 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right half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Merge sorted halves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only one number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left half of 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right half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Merge sorted halves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only one number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left half of 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right half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Merge sorted halves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1  3  4  6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0  2  5  7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only one number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Sort left half of numbers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Sort right half of numbers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Merge sorted halves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9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3  4  1  5  2  7  0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2" name="Google Shape;1122;p192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7" name="Google Shape;1127;p193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2" name="Google Shape;1132;p194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3" name="Google Shape;1133;p194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8" name="Google Shape;1138;p195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9" name="Google Shape;1139;p195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0" name="Google Shape;1140;p195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5" name="Google Shape;1145;p196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6" name="Google Shape;1146;p196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7" name="Google Shape;1147;p196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8" name="Google Shape;1148;p196"/>
          <p:cNvGraphicFramePr/>
          <p:nvPr/>
        </p:nvGraphicFramePr>
        <p:xfrm>
          <a:off x="3606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3" name="Google Shape;1153;p197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4" name="Google Shape;1154;p197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5" name="Google Shape;1155;p197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6" name="Google Shape;1156;p197"/>
          <p:cNvGraphicFramePr/>
          <p:nvPr/>
        </p:nvGraphicFramePr>
        <p:xfrm>
          <a:off x="3606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7" name="Google Shape;1157;p197"/>
          <p:cNvGraphicFramePr/>
          <p:nvPr/>
        </p:nvGraphicFramePr>
        <p:xfrm>
          <a:off x="15092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2" name="Google Shape;1162;p198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3" name="Google Shape;1163;p198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4" name="Google Shape;1164;p198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5" name="Google Shape;1165;p198"/>
          <p:cNvGraphicFramePr/>
          <p:nvPr/>
        </p:nvGraphicFramePr>
        <p:xfrm>
          <a:off x="3606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" name="Google Shape;1170;p199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1" name="Google Shape;1171;p199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2" name="Google Shape;1172;p199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7" name="Google Shape;1177;p200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8" name="Google Shape;1178;p200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9" name="Google Shape;1179;p200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0" name="Google Shape;1180;p200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5" name="Google Shape;1185;p201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6" name="Google Shape;1186;p201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7" name="Google Shape;1187;p201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8" name="Google Shape;1188;p201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9" name="Google Shape;1189;p201"/>
          <p:cNvGraphicFramePr/>
          <p:nvPr/>
        </p:nvGraphicFramePr>
        <p:xfrm>
          <a:off x="26577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4" name="Google Shape;1194;p202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5" name="Google Shape;1195;p202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6" name="Google Shape;1196;p202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7" name="Google Shape;1197;p202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8" name="Google Shape;1198;p202"/>
          <p:cNvGraphicFramePr/>
          <p:nvPr/>
        </p:nvGraphicFramePr>
        <p:xfrm>
          <a:off x="26577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9" name="Google Shape;1199;p202"/>
          <p:cNvGraphicFramePr/>
          <p:nvPr/>
        </p:nvGraphicFramePr>
        <p:xfrm>
          <a:off x="38063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4" name="Google Shape;1204;p203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5" name="Google Shape;1205;p203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6" name="Google Shape;1206;p203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7" name="Google Shape;1207;p203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8" name="Google Shape;1208;p203"/>
          <p:cNvGraphicFramePr/>
          <p:nvPr/>
        </p:nvGraphicFramePr>
        <p:xfrm>
          <a:off x="26577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3" name="Google Shape;1213;p204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4" name="Google Shape;1214;p204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5" name="Google Shape;1215;p204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6" name="Google Shape;1216;p204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1" name="Google Shape;1221;p205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2" name="Google Shape;1222;p205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3" name="Google Shape;1223;p205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4" name="Google Shape;1224;p205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" name="Google Shape;1229;p206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0" name="Google Shape;1230;p206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1" name="Google Shape;1231;p206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2" name="Google Shape;1232;p206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7" name="Google Shape;1237;p207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8" name="Google Shape;1238;p207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9" name="Google Shape;1239;p207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4" name="Google Shape;1244;p208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5" name="Google Shape;1245;p208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0" name="Google Shape;1250;p209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1" name="Google Shape;1251;p209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2" name="Google Shape;1252;p209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7" name="Google Shape;1257;p210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8" name="Google Shape;1258;p210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9" name="Google Shape;1259;p210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0" name="Google Shape;1260;p210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5" name="Google Shape;1265;p211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6" name="Google Shape;1266;p211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7" name="Google Shape;1267;p211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8" name="Google Shape;1268;p211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9" name="Google Shape;1269;p211"/>
          <p:cNvGraphicFramePr/>
          <p:nvPr/>
        </p:nvGraphicFramePr>
        <p:xfrm>
          <a:off x="49548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4" name="Google Shape;1274;p212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5" name="Google Shape;1275;p212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6" name="Google Shape;1276;p212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7" name="Google Shape;1277;p212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8" name="Google Shape;1278;p212"/>
          <p:cNvGraphicFramePr/>
          <p:nvPr/>
        </p:nvGraphicFramePr>
        <p:xfrm>
          <a:off x="49548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9" name="Google Shape;1279;p212"/>
          <p:cNvGraphicFramePr/>
          <p:nvPr/>
        </p:nvGraphicFramePr>
        <p:xfrm>
          <a:off x="61034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4" name="Google Shape;1284;p213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5" name="Google Shape;1285;p213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6" name="Google Shape;1286;p213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7" name="Google Shape;1287;p213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8" name="Google Shape;1288;p213"/>
          <p:cNvGraphicFramePr/>
          <p:nvPr/>
        </p:nvGraphicFramePr>
        <p:xfrm>
          <a:off x="49548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3" name="Google Shape;1293;p214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4" name="Google Shape;1294;p214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5" name="Google Shape;1295;p214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6" name="Google Shape;1296;p214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1" name="Google Shape;1301;p215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2" name="Google Shape;1302;p215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3" name="Google Shape;1303;p215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4" name="Google Shape;1304;p215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5" name="Google Shape;1305;p215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" name="Google Shape;1310;p216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1" name="Google Shape;1311;p216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2" name="Google Shape;1312;p216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3" name="Google Shape;1313;p216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4" name="Google Shape;1314;p216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5" name="Google Shape;1315;p216"/>
          <p:cNvGraphicFramePr/>
          <p:nvPr/>
        </p:nvGraphicFramePr>
        <p:xfrm>
          <a:off x="72519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0" name="Google Shape;1320;p217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1" name="Google Shape;1321;p217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2" name="Google Shape;1322;p217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3" name="Google Shape;1323;p217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4" name="Google Shape;1324;p217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5" name="Google Shape;1325;p217"/>
          <p:cNvGraphicFramePr/>
          <p:nvPr/>
        </p:nvGraphicFramePr>
        <p:xfrm>
          <a:off x="72519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6" name="Google Shape;1326;p217"/>
          <p:cNvGraphicFramePr/>
          <p:nvPr/>
        </p:nvGraphicFramePr>
        <p:xfrm>
          <a:off x="84005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" name="Google Shape;1331;p218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2" name="Google Shape;1332;p218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3" name="Google Shape;1333;p218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4" name="Google Shape;1334;p218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5" name="Google Shape;1335;p218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6" name="Google Shape;1336;p218"/>
          <p:cNvGraphicFramePr/>
          <p:nvPr/>
        </p:nvGraphicFramePr>
        <p:xfrm>
          <a:off x="72519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" name="Google Shape;1341;p219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2" name="Google Shape;1342;p219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3" name="Google Shape;1343;p219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4" name="Google Shape;1344;p219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5" name="Google Shape;1345;p219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0" name="Google Shape;1350;p220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1" name="Google Shape;1351;p220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2" name="Google Shape;1352;p220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3" name="Google Shape;1353;p220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4" name="Google Shape;1354;p220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9" name="Google Shape;1359;p221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0" name="Google Shape;1360;p221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1" name="Google Shape;1361;p221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2" name="Google Shape;1362;p221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3" name="Google Shape;1363;p221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8" name="Google Shape;1368;p222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9" name="Google Shape;1369;p222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0" name="Google Shape;1370;p222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1" name="Google Shape;1371;p222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6" name="Google Shape;1376;p223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7" name="Google Shape;1377;p223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8" name="Google Shape;1378;p223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3" name="Google Shape;1383;p224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4" name="Google Shape;1384;p224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5" name="Google Shape;1385;p224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0" name="Google Shape;1390;p225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1" name="Google Shape;1391;p225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2" name="Google Shape;1392;p225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7" name="Google Shape;1397;p226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8" name="Google Shape;1398;p226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9" name="Google Shape;1399;p226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4" name="Google Shape;1404;p227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5" name="Google Shape;1405;p227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6" name="Google Shape;1406;p227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1" name="Google Shape;1411;p228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2" name="Google Shape;1412;p228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3" name="Google Shape;1413;p228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8" name="Google Shape;1418;p229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9" name="Google Shape;1419;p229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0" name="Google Shape;1420;p229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5" name="Google Shape;1425;p230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6" name="Google Shape;1426;p230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1" name="Google Shape;1431;p231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6" name="Google Shape;1436;p232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2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6" name="Google Shape;1446;p234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7" name="Google Shape;1447;p234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8" name="Google Shape;1448;p234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9" name="Google Shape;1449;p234"/>
          <p:cNvGraphicFramePr/>
          <p:nvPr/>
        </p:nvGraphicFramePr>
        <p:xfrm>
          <a:off x="3606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0" name="Google Shape;1450;p234"/>
          <p:cNvGraphicFramePr/>
          <p:nvPr/>
        </p:nvGraphicFramePr>
        <p:xfrm>
          <a:off x="15092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1" name="Google Shape;1451;p234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2" name="Google Shape;1452;p234"/>
          <p:cNvGraphicFramePr/>
          <p:nvPr/>
        </p:nvGraphicFramePr>
        <p:xfrm>
          <a:off x="26577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3" name="Google Shape;1453;p234"/>
          <p:cNvGraphicFramePr/>
          <p:nvPr/>
        </p:nvGraphicFramePr>
        <p:xfrm>
          <a:off x="38063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4" name="Google Shape;1454;p234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5" name="Google Shape;1455;p234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6" name="Google Shape;1456;p234"/>
          <p:cNvGraphicFramePr/>
          <p:nvPr/>
        </p:nvGraphicFramePr>
        <p:xfrm>
          <a:off x="49548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7" name="Google Shape;1457;p234"/>
          <p:cNvGraphicFramePr/>
          <p:nvPr/>
        </p:nvGraphicFramePr>
        <p:xfrm>
          <a:off x="61034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8" name="Google Shape;1458;p234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9" name="Google Shape;1459;p234"/>
          <p:cNvGraphicFramePr/>
          <p:nvPr/>
        </p:nvGraphicFramePr>
        <p:xfrm>
          <a:off x="72519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0" name="Google Shape;1460;p234"/>
          <p:cNvGraphicFramePr/>
          <p:nvPr/>
        </p:nvGraphicFramePr>
        <p:xfrm>
          <a:off x="84005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5" name="Google Shape;1465;p235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6" name="Google Shape;1466;p235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7" name="Google Shape;1467;p235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8" name="Google Shape;1468;p235"/>
          <p:cNvGraphicFramePr/>
          <p:nvPr/>
        </p:nvGraphicFramePr>
        <p:xfrm>
          <a:off x="3606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9" name="Google Shape;1469;p235"/>
          <p:cNvGraphicFramePr/>
          <p:nvPr/>
        </p:nvGraphicFramePr>
        <p:xfrm>
          <a:off x="15092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0" name="Google Shape;1470;p235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1" name="Google Shape;1471;p235"/>
          <p:cNvGraphicFramePr/>
          <p:nvPr/>
        </p:nvGraphicFramePr>
        <p:xfrm>
          <a:off x="26577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2" name="Google Shape;1472;p235"/>
          <p:cNvGraphicFramePr/>
          <p:nvPr/>
        </p:nvGraphicFramePr>
        <p:xfrm>
          <a:off x="38063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3" name="Google Shape;1473;p235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4" name="Google Shape;1474;p235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5" name="Google Shape;1475;p235"/>
          <p:cNvGraphicFramePr/>
          <p:nvPr/>
        </p:nvGraphicFramePr>
        <p:xfrm>
          <a:off x="49548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6" name="Google Shape;1476;p235"/>
          <p:cNvGraphicFramePr/>
          <p:nvPr/>
        </p:nvGraphicFramePr>
        <p:xfrm>
          <a:off x="61034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7" name="Google Shape;1477;p235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8" name="Google Shape;1478;p235"/>
          <p:cNvGraphicFramePr/>
          <p:nvPr/>
        </p:nvGraphicFramePr>
        <p:xfrm>
          <a:off x="72519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9" name="Google Shape;1479;p235"/>
          <p:cNvGraphicFramePr/>
          <p:nvPr/>
        </p:nvGraphicFramePr>
        <p:xfrm>
          <a:off x="84005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2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</a:t>
            </a:r>
            <a:r>
              <a:rPr baseline="-25000" lang="en"/>
              <a:t>2</a:t>
            </a:r>
            <a:r>
              <a:rPr lang="en"/>
              <a:t> </a:t>
            </a:r>
            <a:r>
              <a:rPr i="1" lang="en"/>
              <a:t>n</a:t>
            </a:r>
            <a:endParaRPr i="1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</a:t>
            </a:r>
            <a:r>
              <a:rPr baseline="-25000" lang="en"/>
              <a:t>2</a:t>
            </a:r>
            <a:r>
              <a:rPr lang="en"/>
              <a:t> </a:t>
            </a:r>
            <a:r>
              <a:rPr lang="en"/>
              <a:t>8</a:t>
            </a:r>
            <a:endParaRPr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</a:t>
            </a:r>
            <a:r>
              <a:rPr baseline="-25000" lang="en"/>
              <a:t>2</a:t>
            </a:r>
            <a:r>
              <a:rPr lang="en"/>
              <a:t> 2</a:t>
            </a:r>
            <a:r>
              <a:rPr baseline="30000" lang="en"/>
              <a:t>3</a:t>
            </a:r>
            <a:endParaRPr baseline="3000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 baseline="3000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4" name="Google Shape;1504;p240"/>
          <p:cNvGraphicFramePr/>
          <p:nvPr/>
        </p:nvGraphicFramePr>
        <p:xfrm>
          <a:off x="3040600" y="7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5" name="Google Shape;1505;p240"/>
          <p:cNvGraphicFramePr/>
          <p:nvPr/>
        </p:nvGraphicFramePr>
        <p:xfrm>
          <a:off x="15092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6" name="Google Shape;1506;p240"/>
          <p:cNvGraphicFramePr/>
          <p:nvPr/>
        </p:nvGraphicFramePr>
        <p:xfrm>
          <a:off x="7435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7" name="Google Shape;1507;p240"/>
          <p:cNvGraphicFramePr/>
          <p:nvPr/>
        </p:nvGraphicFramePr>
        <p:xfrm>
          <a:off x="3606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8" name="Google Shape;1508;p240"/>
          <p:cNvGraphicFramePr/>
          <p:nvPr/>
        </p:nvGraphicFramePr>
        <p:xfrm>
          <a:off x="15092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9" name="Google Shape;1509;p240"/>
          <p:cNvGraphicFramePr/>
          <p:nvPr/>
        </p:nvGraphicFramePr>
        <p:xfrm>
          <a:off x="30406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0" name="Google Shape;1510;p240"/>
          <p:cNvGraphicFramePr/>
          <p:nvPr/>
        </p:nvGraphicFramePr>
        <p:xfrm>
          <a:off x="26577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1" name="Google Shape;1511;p240"/>
          <p:cNvGraphicFramePr/>
          <p:nvPr/>
        </p:nvGraphicFramePr>
        <p:xfrm>
          <a:off x="38063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2" name="Google Shape;1512;p240"/>
          <p:cNvGraphicFramePr/>
          <p:nvPr/>
        </p:nvGraphicFramePr>
        <p:xfrm>
          <a:off x="61034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3" name="Google Shape;1513;p240"/>
          <p:cNvGraphicFramePr/>
          <p:nvPr/>
        </p:nvGraphicFramePr>
        <p:xfrm>
          <a:off x="53377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4" name="Google Shape;1514;p240"/>
          <p:cNvGraphicFramePr/>
          <p:nvPr/>
        </p:nvGraphicFramePr>
        <p:xfrm>
          <a:off x="49548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5" name="Google Shape;1515;p240"/>
          <p:cNvGraphicFramePr/>
          <p:nvPr/>
        </p:nvGraphicFramePr>
        <p:xfrm>
          <a:off x="61034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6" name="Google Shape;1516;p240"/>
          <p:cNvGraphicFramePr/>
          <p:nvPr/>
        </p:nvGraphicFramePr>
        <p:xfrm>
          <a:off x="7634800" y="25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7" name="Google Shape;1517;p240"/>
          <p:cNvGraphicFramePr/>
          <p:nvPr/>
        </p:nvGraphicFramePr>
        <p:xfrm>
          <a:off x="725195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8" name="Google Shape;1518;p240"/>
          <p:cNvGraphicFramePr/>
          <p:nvPr/>
        </p:nvGraphicFramePr>
        <p:xfrm>
          <a:off x="8400500" y="36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{B2305B26-24E7-4DBC-9D78-9BCF0EF84426}</a:tableStyleId>
              </a:tblPr>
              <a:tblGrid>
                <a:gridCol w="382850"/>
              </a:tblGrid>
              <a:tr h="29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2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</a:t>
            </a:r>
            <a:r>
              <a:rPr lang="en"/>
              <a:t> log</a:t>
            </a:r>
            <a:r>
              <a:rPr baseline="-25000" lang="en"/>
              <a:t>2</a:t>
            </a:r>
            <a:r>
              <a:rPr lang="en"/>
              <a:t> </a:t>
            </a:r>
            <a:r>
              <a:rPr i="1" lang="en"/>
              <a:t>n</a:t>
            </a:r>
            <a:endParaRPr baseline="30000" i="1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2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</a:t>
            </a:r>
            <a:r>
              <a:rPr lang="en"/>
              <a:t> log </a:t>
            </a:r>
            <a:r>
              <a:rPr i="1" lang="en"/>
              <a:t>n</a:t>
            </a:r>
            <a:endParaRPr baseline="30000" i="1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2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</a:t>
            </a:r>
            <a:r>
              <a:rPr lang="en">
                <a:solidFill>
                  <a:srgbClr val="666666"/>
                </a:solidFill>
              </a:rPr>
              <a:t>merge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r>
              <a:rPr lang="en">
                <a:solidFill>
                  <a:srgbClr val="666666"/>
                </a:solidFill>
              </a:rPr>
              <a:t>merge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2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r>
              <a:rPr lang="en">
                <a:solidFill>
                  <a:srgbClr val="666666"/>
                </a:solidFill>
              </a:rPr>
              <a:t>merge sort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apted from https://www.youtube.com/watch?v=ZZuD6iUe3Pc." id="1548" name="Google Shape;1548;p246" title="Visualization and Comparison of Sorting Algorithms - Rando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3" name="Google Shape;1553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